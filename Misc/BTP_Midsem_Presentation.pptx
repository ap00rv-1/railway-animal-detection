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Apoorv Singh, roll number 230021004, Space Science and Engineering, IIT Indore. This is my BTP Major mid-semester progress presentation under Prof. Saurabh Das, on the Railway Animal Detection System, specifically the communication and alerting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Animal-train collisions on Indian Railways cause wildlife deaths, occasional derailments and operational disruption. Many efforts focus on detection, using cameras, PIR sensors and geophones at trackside nodes. But detection alone doesn't prevent a collision. The real gap is getting that information to the driver fast enough, and in a form simple enough, to act on within seconds, while also logging it for a control room. That is the gap my part of the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system has three parts: trackside sensing hardware, meaning ESP32-CAM, PIR and geophone; a YOLOv8-nano detection model, trained separately to 81.5% mAP50; and the communication and alerting layer. That third part is my complete responsibility: event ingestion, severity scoring, multi-node prioritisation, persistence, and the driver and control-room interfaces.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reach the system from a real edge node, an ESP32-CAM triggered by PIR, or, during development, from a simulator posting synthetic events over HTTP. Both converge on a single FastAPI pipeline. This was deliberate: I could build and demo the whole system before hardware was ready, with no change in behaviour once real hardware is plugged in. There are three endpoints: pre-scored JSON, raw image for inference, and heartbeat. Pydantic validates every payload. If an image arrives, the server runs YOLOv8-nano, since the ESP32-CAM can't run it on-device.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event is scored on track position, animal weight class, sensor agreement, detection confidence and herd size, giving a RED, YELLOW or GREEN severity. Across multiple nodes, events are ranked so the driver always sees the single most urgent situation. Everything is stored in SQLite and broadcast over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This is the control-room dashboard: node status, a live event feed, per-node species counts and a historical log with severity and score. This is the driver dashboard, designed for sub-second readability: one colour, one action. I'm posting a detection now. The driver display goes to CAUTION, with slow and brake highlighted. This one is on the track with a larger animal, so it goes RED. The same events appear in the control-room log with their scores. This ran across two physically separate devices on the same WiFi network over a live WebSocket connection, so it's a real network boundary, not just localhost. (Tip: record the live demo on screen here, and use this slide as the still before or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hardware side, the ESP32-CAM firmware is written: deep sleep with two wake sources, PIR-triggered capture and transmit, and a periodic heartbeat so node status stays meaningful. It is desk-reviewed but not yet flashed on hardware, so the validated proof of concept today is simulator-driven. The geophone isn't in the hardware procured so far, and its inclusion is still to be resolved. On security, CORS is currently open, which is fine for controlled campus testing but not for production, so hardening is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rest of the semester: flash the firmware and integrate the PIR sensor, then validate the single-node pipeline end to end, from PIR detection to capture, transmission, inference, scoring and dashboard alert. After that, the geophone if available, a multi-node campus demonstration, and hardening with restricted origins and authentication. To summarise: the software layer is complete and validated over real WiFi, and the remaining goal is the hardware prototype.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548640" y="822960"/>
            <a:ext cx="6035040" cy="1371600"/>
          </a:xfrm>
          <a:prstGeom prst="rect">
            <a:avLst/>
          </a:prstGeom>
          <a:noFill/>
          <a:ln/>
        </p:spPr>
        <p:txBody>
          <a:bodyPr wrap="square" lIns="0" tIns="0" rIns="0" bIns="0" rtlCol="0" anchor="t"/>
          <a:lstStyle/>
          <a:p>
            <a:pPr indent="0" marL="0">
              <a:buNone/>
            </a:pPr>
            <a:r>
              <a:rPr lang="en-US" sz="4000" b="1" dirty="0">
                <a:solidFill>
                  <a:srgbClr val="F0F3F6"/>
                </a:solidFill>
                <a:latin typeface="Calibri" pitchFamily="34" charset="0"/>
                <a:ea typeface="Calibri" pitchFamily="34" charset="-122"/>
                <a:cs typeface="Calibri" pitchFamily="34" charset="-120"/>
              </a:rPr>
              <a:t>Railway Animal Detection System</a:t>
            </a:r>
            <a:endParaRPr lang="en-US" sz="4000" dirty="0"/>
          </a:p>
        </p:txBody>
      </p:sp>
      <p:sp>
        <p:nvSpPr>
          <p:cNvPr id="3" name="Text 1"/>
          <p:cNvSpPr txBox="1"/>
          <p:nvPr/>
        </p:nvSpPr>
        <p:spPr>
          <a:xfrm>
            <a:off x="548640" y="2286000"/>
            <a:ext cx="6035040" cy="457200"/>
          </a:xfrm>
          <a:prstGeom prst="rect">
            <a:avLst/>
          </a:prstGeom>
          <a:noFill/>
          <a:ln/>
        </p:spPr>
        <p:txBody>
          <a:bodyPr wrap="square" lIns="0" tIns="0" rIns="0" bIns="0" rtlCol="0" anchor="t"/>
          <a:lstStyle/>
          <a:p>
            <a:pPr indent="0" marL="0">
              <a:buNone/>
            </a:pPr>
            <a:r>
              <a:rPr lang="en-US" sz="2200" b="1" dirty="0">
                <a:solidFill>
                  <a:srgbClr val="FFC93C"/>
                </a:solidFill>
                <a:latin typeface="Calibri" pitchFamily="34" charset="0"/>
                <a:ea typeface="Calibri" pitchFamily="34" charset="-122"/>
                <a:cs typeface="Calibri" pitchFamily="34" charset="-120"/>
              </a:rPr>
              <a:t>Communication and Alerting Layer</a:t>
            </a:r>
            <a:endParaRPr lang="en-US" sz="2200" dirty="0"/>
          </a:p>
        </p:txBody>
      </p:sp>
      <p:sp>
        <p:nvSpPr>
          <p:cNvPr id="4" name="Text 2"/>
          <p:cNvSpPr txBox="1"/>
          <p:nvPr/>
        </p:nvSpPr>
        <p:spPr>
          <a:xfrm>
            <a:off x="548640" y="2834640"/>
            <a:ext cx="6035040" cy="365760"/>
          </a:xfrm>
          <a:prstGeom prst="rect">
            <a:avLst/>
          </a:prstGeom>
          <a:noFill/>
          <a:ln/>
        </p:spPr>
        <p:txBody>
          <a:bodyPr wrap="square" lIns="0" tIns="0" rIns="0" bIns="0" rtlCol="0" anchor="t"/>
          <a:lstStyle/>
          <a:p>
            <a:pPr indent="0" marL="0">
              <a:buNone/>
            </a:pPr>
            <a:r>
              <a:rPr lang="en-US" sz="1500" dirty="0">
                <a:solidFill>
                  <a:srgbClr val="9AA4AF"/>
                </a:solidFill>
                <a:latin typeface="Calibri" pitchFamily="34" charset="0"/>
                <a:ea typeface="Calibri" pitchFamily="34" charset="-122"/>
                <a:cs typeface="Calibri" pitchFamily="34" charset="-120"/>
              </a:rPr>
              <a:t>BTP Major (SSE)  |  Mid-Semester Progress Report</a:t>
            </a:r>
            <a:endParaRPr lang="en-US" sz="1500" dirty="0"/>
          </a:p>
        </p:txBody>
      </p:sp>
      <p:sp>
        <p:nvSpPr>
          <p:cNvPr id="5" name="Text 3"/>
          <p:cNvSpPr txBox="1"/>
          <p:nvPr/>
        </p:nvSpPr>
        <p:spPr>
          <a:xfrm>
            <a:off x="548640" y="3794760"/>
            <a:ext cx="6035040" cy="868680"/>
          </a:xfrm>
          <a:prstGeom prst="rect">
            <a:avLst/>
          </a:prstGeom>
          <a:noFill/>
          <a:ln/>
        </p:spPr>
        <p:txBody>
          <a:bodyPr wrap="square" lIns="0" tIns="0" rIns="0" bIns="0" rtlCol="0" anchor="t"/>
          <a:lstStyle/>
          <a:p>
            <a:pPr indent="0" marL="0">
              <a:spcAft>
                <a:spcPts val="300"/>
              </a:spcAft>
              <a:buNone/>
            </a:pPr>
            <a:r>
              <a:rPr lang="en-US" sz="1400" b="1" dirty="0">
                <a:solidFill>
                  <a:srgbClr val="F0F3F6"/>
                </a:solidFill>
                <a:latin typeface="Calibri" pitchFamily="34" charset="0"/>
                <a:ea typeface="Calibri" pitchFamily="34" charset="-122"/>
                <a:cs typeface="Calibri" pitchFamily="34" charset="-120"/>
              </a:rPr>
              <a:t>Apoorv Singh  |  230021004</a:t>
            </a:r>
            <a:endParaRPr lang="en-US" sz="1400" dirty="0"/>
          </a:p>
          <a:p>
            <a:pPr indent="0" marL="0">
              <a:spcAft>
                <a:spcPts val="300"/>
              </a:spcAft>
              <a:buNone/>
            </a:pPr>
            <a:r>
              <a:rPr lang="en-US" sz="1400" dirty="0">
                <a:solidFill>
                  <a:srgbClr val="F0F3F6"/>
                </a:solidFill>
                <a:latin typeface="Calibri" pitchFamily="34" charset="0"/>
                <a:ea typeface="Calibri" pitchFamily="34" charset="-122"/>
                <a:cs typeface="Calibri" pitchFamily="34" charset="-120"/>
              </a:rPr>
              <a:t>Space Science &amp; Engineering, IIT Indore</a:t>
            </a:r>
            <a:endParaRPr lang="en-US" sz="1400" dirty="0"/>
          </a:p>
          <a:p>
            <a:pPr indent="0" marL="0">
              <a:spcAft>
                <a:spcPts val="300"/>
              </a:spcAft>
              <a:buNone/>
            </a:pPr>
            <a:r>
              <a:rPr lang="en-US" sz="1400" dirty="0">
                <a:solidFill>
                  <a:srgbClr val="F0F3F6"/>
                </a:solidFill>
                <a:latin typeface="Calibri" pitchFamily="34" charset="0"/>
                <a:ea typeface="Calibri" pitchFamily="34" charset="-122"/>
                <a:cs typeface="Calibri" pitchFamily="34" charset="-120"/>
              </a:rPr>
              <a:t>Supervisor: Prof. Saurabh Das</a:t>
            </a:r>
            <a:endParaRPr lang="en-US" sz="1400" dirty="0"/>
          </a:p>
        </p:txBody>
      </p:sp>
      <p:sp>
        <p:nvSpPr>
          <p:cNvPr id="6" name="Shape 4"/>
          <p:cNvSpPr/>
          <p:nvPr/>
        </p:nvSpPr>
        <p:spPr>
          <a:xfrm>
            <a:off x="7086600" y="777240"/>
            <a:ext cx="1508760" cy="3611880"/>
          </a:xfrm>
          <a:prstGeom prst="roundRect">
            <a:avLst>
              <a:gd name="adj" fmla="val 15152"/>
            </a:avLst>
          </a:prstGeom>
          <a:solidFill>
            <a:srgbClr val="161B22"/>
          </a:solidFill>
          <a:ln w="19050">
            <a:solidFill>
              <a:srgbClr val="30363D"/>
            </a:solidFill>
            <a:prstDash val="solid"/>
          </a:ln>
        </p:spPr>
      </p:sp>
      <p:sp>
        <p:nvSpPr>
          <p:cNvPr id="7" name="Shape 5"/>
          <p:cNvSpPr/>
          <p:nvPr/>
        </p:nvSpPr>
        <p:spPr>
          <a:xfrm>
            <a:off x="7383780" y="1005840"/>
            <a:ext cx="914400" cy="914400"/>
          </a:xfrm>
          <a:prstGeom prst="ellipse">
            <a:avLst/>
          </a:prstGeom>
          <a:solidFill>
            <a:srgbClr val="3A1D1F"/>
          </a:solidFill>
          <a:ln w="12700">
            <a:solidFill>
              <a:srgbClr val="30363D"/>
            </a:solidFill>
            <a:prstDash val="solid"/>
          </a:ln>
        </p:spPr>
      </p:sp>
      <p:sp>
        <p:nvSpPr>
          <p:cNvPr id="8" name="Shape 6"/>
          <p:cNvSpPr/>
          <p:nvPr/>
        </p:nvSpPr>
        <p:spPr>
          <a:xfrm>
            <a:off x="7383780" y="2148840"/>
            <a:ext cx="914400" cy="914400"/>
          </a:xfrm>
          <a:prstGeom prst="ellipse">
            <a:avLst/>
          </a:prstGeom>
          <a:solidFill>
            <a:srgbClr val="FFC93C"/>
          </a:solidFill>
          <a:ln w="12700">
            <a:solidFill>
              <a:srgbClr val="FFC93C"/>
            </a:solidFill>
            <a:prstDash val="solid"/>
          </a:ln>
        </p:spPr>
      </p:sp>
      <p:sp>
        <p:nvSpPr>
          <p:cNvPr id="9" name="Shape 7"/>
          <p:cNvSpPr/>
          <p:nvPr/>
        </p:nvSpPr>
        <p:spPr>
          <a:xfrm>
            <a:off x="7383780" y="3291840"/>
            <a:ext cx="914400" cy="914400"/>
          </a:xfrm>
          <a:prstGeom prst="ellipse">
            <a:avLst/>
          </a:prstGeom>
          <a:solidFill>
            <a:srgbClr val="1C3325"/>
          </a:solidFill>
          <a:ln w="12700">
            <a:solidFill>
              <a:srgbClr val="30363D"/>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Detection alone doesn't stop a collision</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280160"/>
            <a:ext cx="2468880" cy="2240280"/>
          </a:xfrm>
          <a:prstGeom prst="roundRect">
            <a:avLst>
              <a:gd name="adj" fmla="val 3265"/>
            </a:avLst>
          </a:prstGeom>
          <a:solidFill>
            <a:srgbClr val="161B22"/>
          </a:solidFill>
          <a:ln w="12700">
            <a:solidFill>
              <a:srgbClr val="30363D"/>
            </a:solidFill>
            <a:prstDash val="solid"/>
          </a:ln>
        </p:spPr>
      </p:sp>
      <p:sp>
        <p:nvSpPr>
          <p:cNvPr id="7" name="Text 5"/>
          <p:cNvSpPr txBox="1"/>
          <p:nvPr/>
        </p:nvSpPr>
        <p:spPr>
          <a:xfrm>
            <a:off x="685800" y="1508760"/>
            <a:ext cx="2011680" cy="228600"/>
          </a:xfrm>
          <a:prstGeom prst="rect">
            <a:avLst/>
          </a:prstGeom>
          <a:noFill/>
          <a:ln/>
        </p:spPr>
        <p:txBody>
          <a:bodyPr wrap="square" lIns="0" tIns="0" rIns="0" bIns="0" rtlCol="0" anchor="t"/>
          <a:lstStyle/>
          <a:p>
            <a:pPr indent="0" marL="0">
              <a:buNone/>
            </a:pPr>
            <a:r>
              <a:rPr lang="en-US" sz="1100" b="1" spc="200" kern="0" dirty="0">
                <a:solidFill>
                  <a:srgbClr val="9AA4AF"/>
                </a:solidFill>
                <a:latin typeface="Calibri" pitchFamily="34" charset="0"/>
                <a:ea typeface="Calibri" pitchFamily="34" charset="-122"/>
                <a:cs typeface="Calibri" pitchFamily="34" charset="-120"/>
              </a:rPr>
              <a:t>ONGOING EFFORTS</a:t>
            </a:r>
            <a:endParaRPr lang="en-US" sz="1100" dirty="0"/>
          </a:p>
        </p:txBody>
      </p:sp>
      <p:sp>
        <p:nvSpPr>
          <p:cNvPr id="8" name="Text 6"/>
          <p:cNvSpPr txBox="1"/>
          <p:nvPr/>
        </p:nvSpPr>
        <p:spPr>
          <a:xfrm>
            <a:off x="685800" y="1828800"/>
            <a:ext cx="2011680" cy="457200"/>
          </a:xfrm>
          <a:prstGeom prst="rect">
            <a:avLst/>
          </a:prstGeom>
          <a:noFill/>
          <a:ln/>
        </p:spPr>
        <p:txBody>
          <a:bodyPr wrap="square" lIns="0" tIns="0" rIns="0" bIns="0" rtlCol="0" anchor="t"/>
          <a:lstStyle/>
          <a:p>
            <a:pPr indent="0" marL="0">
              <a:buNone/>
            </a:pPr>
            <a:r>
              <a:rPr lang="en-US" sz="2000" b="1" dirty="0">
                <a:solidFill>
                  <a:srgbClr val="F0F3F6"/>
                </a:solidFill>
                <a:latin typeface="Calibri" pitchFamily="34" charset="0"/>
                <a:ea typeface="Calibri" pitchFamily="34" charset="-122"/>
                <a:cs typeface="Calibri" pitchFamily="34" charset="-120"/>
              </a:rPr>
              <a:t>Detect</a:t>
            </a:r>
            <a:endParaRPr lang="en-US" sz="2000" dirty="0"/>
          </a:p>
        </p:txBody>
      </p:sp>
      <p:sp>
        <p:nvSpPr>
          <p:cNvPr id="9" name="Text 7"/>
          <p:cNvSpPr txBox="1"/>
          <p:nvPr/>
        </p:nvSpPr>
        <p:spPr>
          <a:xfrm>
            <a:off x="685800" y="2377440"/>
            <a:ext cx="2011680" cy="1005840"/>
          </a:xfrm>
          <a:prstGeom prst="rect">
            <a:avLst/>
          </a:prstGeom>
          <a:noFill/>
          <a:ln/>
        </p:spPr>
        <p:txBody>
          <a:bodyPr wrap="square" lIns="0" tIns="0" rIns="0" bIns="0" rtlCol="0" anchor="t"/>
          <a:lstStyle/>
          <a:p>
            <a:pPr indent="0" marL="0">
              <a:buNone/>
            </a:pPr>
            <a:r>
              <a:rPr lang="en-US" sz="1300" dirty="0">
                <a:solidFill>
                  <a:srgbClr val="9AA4AF"/>
                </a:solidFill>
                <a:latin typeface="Calibri" pitchFamily="34" charset="0"/>
                <a:ea typeface="Calibri" pitchFamily="34" charset="-122"/>
                <a:cs typeface="Calibri" pitchFamily="34" charset="-120"/>
              </a:rPr>
              <a:t>Cameras, PIR sensors and geophones at trackside nodes identify that an animal is present.</a:t>
            </a:r>
            <a:endParaRPr lang="en-US" sz="1300" dirty="0"/>
          </a:p>
        </p:txBody>
      </p:sp>
      <p:sp>
        <p:nvSpPr>
          <p:cNvPr id="10" name="Shape 8"/>
          <p:cNvSpPr/>
          <p:nvPr/>
        </p:nvSpPr>
        <p:spPr>
          <a:xfrm>
            <a:off x="2990088" y="2263140"/>
            <a:ext cx="283464" cy="274320"/>
          </a:xfrm>
          <a:prstGeom prst="rightArrow">
            <a:avLst/>
          </a:prstGeom>
          <a:solidFill>
            <a:srgbClr val="9AA4AF"/>
          </a:solidFill>
          <a:ln w="12700">
            <a:solidFill>
              <a:srgbClr val="9AA4AF"/>
            </a:solidFill>
            <a:prstDash val="solid"/>
          </a:ln>
        </p:spPr>
      </p:sp>
      <p:sp>
        <p:nvSpPr>
          <p:cNvPr id="11" name="Shape 9"/>
          <p:cNvSpPr/>
          <p:nvPr/>
        </p:nvSpPr>
        <p:spPr>
          <a:xfrm>
            <a:off x="3337560" y="1280160"/>
            <a:ext cx="2468880" cy="2240280"/>
          </a:xfrm>
          <a:prstGeom prst="roundRect">
            <a:avLst>
              <a:gd name="adj" fmla="val 3265"/>
            </a:avLst>
          </a:prstGeom>
          <a:solidFill>
            <a:srgbClr val="161B22"/>
          </a:solidFill>
          <a:ln w="25400">
            <a:solidFill>
              <a:srgbClr val="FFC93C"/>
            </a:solidFill>
            <a:prstDash val="solid"/>
          </a:ln>
        </p:spPr>
      </p:sp>
      <p:sp>
        <p:nvSpPr>
          <p:cNvPr id="12" name="Text 10"/>
          <p:cNvSpPr txBox="1"/>
          <p:nvPr/>
        </p:nvSpPr>
        <p:spPr>
          <a:xfrm>
            <a:off x="3566160" y="1508760"/>
            <a:ext cx="2011680" cy="228600"/>
          </a:xfrm>
          <a:prstGeom prst="rect">
            <a:avLst/>
          </a:prstGeom>
          <a:noFill/>
          <a:ln/>
        </p:spPr>
        <p:txBody>
          <a:bodyPr wrap="square" lIns="0" tIns="0" rIns="0" bIns="0" rtlCol="0" anchor="t"/>
          <a:lstStyle/>
          <a:p>
            <a:pPr indent="0" marL="0">
              <a:buNone/>
            </a:pPr>
            <a:r>
              <a:rPr lang="en-US" sz="1100" b="1" spc="200" kern="0" dirty="0">
                <a:solidFill>
                  <a:srgbClr val="FFC93C"/>
                </a:solidFill>
                <a:latin typeface="Calibri" pitchFamily="34" charset="0"/>
                <a:ea typeface="Calibri" pitchFamily="34" charset="-122"/>
                <a:cs typeface="Calibri" pitchFamily="34" charset="-120"/>
              </a:rPr>
              <a:t>THE GAP</a:t>
            </a:r>
            <a:endParaRPr lang="en-US" sz="1100" dirty="0"/>
          </a:p>
        </p:txBody>
      </p:sp>
      <p:sp>
        <p:nvSpPr>
          <p:cNvPr id="13" name="Text 11"/>
          <p:cNvSpPr txBox="1"/>
          <p:nvPr/>
        </p:nvSpPr>
        <p:spPr>
          <a:xfrm>
            <a:off x="3566160" y="1828800"/>
            <a:ext cx="2011680" cy="457200"/>
          </a:xfrm>
          <a:prstGeom prst="rect">
            <a:avLst/>
          </a:prstGeom>
          <a:noFill/>
          <a:ln/>
        </p:spPr>
        <p:txBody>
          <a:bodyPr wrap="square" lIns="0" tIns="0" rIns="0" bIns="0" rtlCol="0" anchor="t"/>
          <a:lstStyle/>
          <a:p>
            <a:pPr indent="0" marL="0">
              <a:buNone/>
            </a:pPr>
            <a:r>
              <a:rPr lang="en-US" sz="2000" b="1" dirty="0">
                <a:solidFill>
                  <a:srgbClr val="F0F3F6"/>
                </a:solidFill>
                <a:latin typeface="Calibri" pitchFamily="34" charset="0"/>
                <a:ea typeface="Calibri" pitchFamily="34" charset="-122"/>
                <a:cs typeface="Calibri" pitchFamily="34" charset="-120"/>
              </a:rPr>
              <a:t>Alert the driver</a:t>
            </a:r>
            <a:endParaRPr lang="en-US" sz="2000" dirty="0"/>
          </a:p>
        </p:txBody>
      </p:sp>
      <p:sp>
        <p:nvSpPr>
          <p:cNvPr id="14" name="Text 12"/>
          <p:cNvSpPr txBox="1"/>
          <p:nvPr/>
        </p:nvSpPr>
        <p:spPr>
          <a:xfrm>
            <a:off x="3566160" y="2377440"/>
            <a:ext cx="2011680" cy="1005840"/>
          </a:xfrm>
          <a:prstGeom prst="rect">
            <a:avLst/>
          </a:prstGeom>
          <a:noFill/>
          <a:ln/>
        </p:spPr>
        <p:txBody>
          <a:bodyPr wrap="square" lIns="0" tIns="0" rIns="0" bIns="0" rtlCol="0" anchor="t"/>
          <a:lstStyle/>
          <a:p>
            <a:pPr indent="0" marL="0">
              <a:buNone/>
            </a:pPr>
            <a:r>
              <a:rPr lang="en-US" sz="1300" dirty="0">
                <a:solidFill>
                  <a:srgbClr val="F0F3F6"/>
                </a:solidFill>
                <a:latin typeface="Calibri" pitchFamily="34" charset="0"/>
                <a:ea typeface="Calibri" pitchFamily="34" charset="-122"/>
                <a:cs typeface="Calibri" pitchFamily="34" charset="-120"/>
              </a:rPr>
              <a:t>Get the information to the driver within seconds, in a form simple enough to act on.</a:t>
            </a:r>
            <a:endParaRPr lang="en-US" sz="1300" dirty="0"/>
          </a:p>
        </p:txBody>
      </p:sp>
      <p:sp>
        <p:nvSpPr>
          <p:cNvPr id="15" name="Shape 13"/>
          <p:cNvSpPr/>
          <p:nvPr/>
        </p:nvSpPr>
        <p:spPr>
          <a:xfrm>
            <a:off x="5870448" y="2263140"/>
            <a:ext cx="283464" cy="274320"/>
          </a:xfrm>
          <a:prstGeom prst="rightArrow">
            <a:avLst/>
          </a:prstGeom>
          <a:solidFill>
            <a:srgbClr val="9AA4AF"/>
          </a:solidFill>
          <a:ln w="12700">
            <a:solidFill>
              <a:srgbClr val="9AA4AF"/>
            </a:solidFill>
            <a:prstDash val="solid"/>
          </a:ln>
        </p:spPr>
      </p:sp>
      <p:sp>
        <p:nvSpPr>
          <p:cNvPr id="16" name="Shape 14"/>
          <p:cNvSpPr/>
          <p:nvPr/>
        </p:nvSpPr>
        <p:spPr>
          <a:xfrm>
            <a:off x="6217920" y="1280160"/>
            <a:ext cx="2468880" cy="2240280"/>
          </a:xfrm>
          <a:prstGeom prst="roundRect">
            <a:avLst>
              <a:gd name="adj" fmla="val 3265"/>
            </a:avLst>
          </a:prstGeom>
          <a:solidFill>
            <a:srgbClr val="161B22"/>
          </a:solidFill>
          <a:ln w="12700">
            <a:solidFill>
              <a:srgbClr val="30363D"/>
            </a:solidFill>
            <a:prstDash val="solid"/>
          </a:ln>
        </p:spPr>
      </p:sp>
      <p:sp>
        <p:nvSpPr>
          <p:cNvPr id="17" name="Text 15"/>
          <p:cNvSpPr txBox="1"/>
          <p:nvPr/>
        </p:nvSpPr>
        <p:spPr>
          <a:xfrm>
            <a:off x="6446520" y="1508760"/>
            <a:ext cx="2011680" cy="228600"/>
          </a:xfrm>
          <a:prstGeom prst="rect">
            <a:avLst/>
          </a:prstGeom>
          <a:noFill/>
          <a:ln/>
        </p:spPr>
        <p:txBody>
          <a:bodyPr wrap="square" lIns="0" tIns="0" rIns="0" bIns="0" rtlCol="0" anchor="t"/>
          <a:lstStyle/>
          <a:p>
            <a:pPr indent="0" marL="0">
              <a:buNone/>
            </a:pPr>
            <a:r>
              <a:rPr lang="en-US" sz="1100" b="1" spc="200" kern="0" dirty="0">
                <a:solidFill>
                  <a:srgbClr val="9AA4AF"/>
                </a:solidFill>
                <a:latin typeface="Calibri" pitchFamily="34" charset="0"/>
                <a:ea typeface="Calibri" pitchFamily="34" charset="-122"/>
                <a:cs typeface="Calibri" pitchFamily="34" charset="-120"/>
              </a:rPr>
              <a:t>ALSO NEEDED</a:t>
            </a:r>
            <a:endParaRPr lang="en-US" sz="1100" dirty="0"/>
          </a:p>
        </p:txBody>
      </p:sp>
      <p:sp>
        <p:nvSpPr>
          <p:cNvPr id="18" name="Text 16"/>
          <p:cNvSpPr txBox="1"/>
          <p:nvPr/>
        </p:nvSpPr>
        <p:spPr>
          <a:xfrm>
            <a:off x="6446520" y="1828800"/>
            <a:ext cx="2011680" cy="457200"/>
          </a:xfrm>
          <a:prstGeom prst="rect">
            <a:avLst/>
          </a:prstGeom>
          <a:noFill/>
          <a:ln/>
        </p:spPr>
        <p:txBody>
          <a:bodyPr wrap="square" lIns="0" tIns="0" rIns="0" bIns="0" rtlCol="0" anchor="t"/>
          <a:lstStyle/>
          <a:p>
            <a:pPr indent="0" marL="0">
              <a:buNone/>
            </a:pPr>
            <a:r>
              <a:rPr lang="en-US" sz="2000" b="1" dirty="0">
                <a:solidFill>
                  <a:srgbClr val="F0F3F6"/>
                </a:solidFill>
                <a:latin typeface="Calibri" pitchFamily="34" charset="0"/>
                <a:ea typeface="Calibri" pitchFamily="34" charset="-122"/>
                <a:cs typeface="Calibri" pitchFamily="34" charset="-120"/>
              </a:rPr>
              <a:t>Log the events</a:t>
            </a:r>
            <a:endParaRPr lang="en-US" sz="2000" dirty="0"/>
          </a:p>
        </p:txBody>
      </p:sp>
      <p:sp>
        <p:nvSpPr>
          <p:cNvPr id="19" name="Text 17"/>
          <p:cNvSpPr txBox="1"/>
          <p:nvPr/>
        </p:nvSpPr>
        <p:spPr>
          <a:xfrm>
            <a:off x="6446520" y="2377440"/>
            <a:ext cx="2011680" cy="1005840"/>
          </a:xfrm>
          <a:prstGeom prst="rect">
            <a:avLst/>
          </a:prstGeom>
          <a:noFill/>
          <a:ln/>
        </p:spPr>
        <p:txBody>
          <a:bodyPr wrap="square" lIns="0" tIns="0" rIns="0" bIns="0" rtlCol="0" anchor="t"/>
          <a:lstStyle/>
          <a:p>
            <a:pPr indent="0" marL="0">
              <a:buNone/>
            </a:pPr>
            <a:r>
              <a:rPr lang="en-US" sz="1300" dirty="0">
                <a:solidFill>
                  <a:srgbClr val="9AA4AF"/>
                </a:solidFill>
                <a:latin typeface="Calibri" pitchFamily="34" charset="0"/>
                <a:ea typeface="Calibri" pitchFamily="34" charset="-122"/>
                <a:cs typeface="Calibri" pitchFamily="34" charset="-120"/>
              </a:rPr>
              <a:t>Record every event so the control room can track patterns over time.</a:t>
            </a:r>
            <a:endParaRPr lang="en-US" sz="1300" dirty="0"/>
          </a:p>
        </p:txBody>
      </p:sp>
      <p:sp>
        <p:nvSpPr>
          <p:cNvPr id="20" name="Text 18"/>
          <p:cNvSpPr txBox="1"/>
          <p:nvPr/>
        </p:nvSpPr>
        <p:spPr>
          <a:xfrm>
            <a:off x="457200" y="3886200"/>
            <a:ext cx="8229600" cy="777240"/>
          </a:xfrm>
          <a:prstGeom prst="rect">
            <a:avLst/>
          </a:prstGeom>
          <a:noFill/>
          <a:ln/>
        </p:spPr>
        <p:txBody>
          <a:bodyPr wrap="square" lIns="0" tIns="0" rIns="0" bIns="0" rtlCol="0" anchor="t"/>
          <a:lstStyle/>
          <a:p>
            <a:pPr indent="0" marL="0">
              <a:buNone/>
            </a:pPr>
            <a:r>
              <a:rPr lang="en-US" sz="1600" b="1" dirty="0">
                <a:solidFill>
                  <a:srgbClr val="FFC93C"/>
                </a:solidFill>
                <a:latin typeface="Calibri" pitchFamily="34" charset="0"/>
                <a:ea typeface="Calibri" pitchFamily="34" charset="-122"/>
                <a:cs typeface="Calibri" pitchFamily="34" charset="-120"/>
              </a:rPr>
              <a:t>This project: </a:t>
            </a:r>
            <a:pPr indent="0" marL="0">
              <a:buNone/>
            </a:pPr>
            <a:r>
              <a:rPr lang="en-US" sz="1600" dirty="0">
                <a:solidFill>
                  <a:srgbClr val="F0F3F6"/>
                </a:solidFill>
                <a:latin typeface="Calibri" pitchFamily="34" charset="0"/>
                <a:ea typeface="Calibri" pitchFamily="34" charset="-122"/>
                <a:cs typeface="Calibri" pitchFamily="34" charset="-120"/>
              </a:rPr>
              <a:t>a communication and alerting layer that takes trackside detections, decides how urgent each one is, and pushes it to a driver display and a control-room dashboard in real time.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Three parts. This report covers one.</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280160"/>
            <a:ext cx="3566160" cy="1417320"/>
          </a:xfrm>
          <a:prstGeom prst="roundRect">
            <a:avLst>
              <a:gd name="adj" fmla="val 5161"/>
            </a:avLst>
          </a:prstGeom>
          <a:solidFill>
            <a:srgbClr val="161B22"/>
          </a:solidFill>
          <a:ln w="12700">
            <a:solidFill>
              <a:srgbClr val="30363D"/>
            </a:solidFill>
            <a:prstDash val="solid"/>
          </a:ln>
        </p:spPr>
      </p:sp>
      <p:sp>
        <p:nvSpPr>
          <p:cNvPr id="7" name="Text 5"/>
          <p:cNvSpPr txBox="1"/>
          <p:nvPr/>
        </p:nvSpPr>
        <p:spPr>
          <a:xfrm>
            <a:off x="685800" y="1481328"/>
            <a:ext cx="3108960" cy="320040"/>
          </a:xfrm>
          <a:prstGeom prst="rect">
            <a:avLst/>
          </a:prstGeom>
          <a:noFill/>
          <a:ln/>
        </p:spPr>
        <p:txBody>
          <a:bodyPr wrap="square" lIns="0" tIns="0" rIns="0" bIns="0" rtlCol="0" anchor="t"/>
          <a:lstStyle/>
          <a:p>
            <a:pPr indent="0" marL="0">
              <a:buNone/>
            </a:pPr>
            <a:r>
              <a:rPr lang="en-US" sz="1500" b="1" dirty="0">
                <a:solidFill>
                  <a:srgbClr val="F0F3F6"/>
                </a:solidFill>
                <a:latin typeface="Calibri" pitchFamily="34" charset="0"/>
                <a:ea typeface="Calibri" pitchFamily="34" charset="-122"/>
                <a:cs typeface="Calibri" pitchFamily="34" charset="-120"/>
              </a:rPr>
              <a:t>1  Trackside sensing hardware</a:t>
            </a:r>
            <a:endParaRPr lang="en-US" sz="1500" dirty="0"/>
          </a:p>
        </p:txBody>
      </p:sp>
      <p:sp>
        <p:nvSpPr>
          <p:cNvPr id="8" name="Text 6"/>
          <p:cNvSpPr txBox="1"/>
          <p:nvPr/>
        </p:nvSpPr>
        <p:spPr>
          <a:xfrm>
            <a:off x="685800" y="1874520"/>
            <a:ext cx="3108960" cy="548640"/>
          </a:xfrm>
          <a:prstGeom prst="rect">
            <a:avLst/>
          </a:prstGeom>
          <a:noFill/>
          <a:ln/>
        </p:spPr>
        <p:txBody>
          <a:bodyPr wrap="square" lIns="0" tIns="0" rIns="0" bIns="0" rtlCol="0" anchor="t"/>
          <a:lstStyle/>
          <a:p>
            <a:pPr indent="0" marL="0">
              <a:buNone/>
            </a:pPr>
            <a:r>
              <a:rPr lang="en-US" sz="1300" dirty="0">
                <a:solidFill>
                  <a:srgbClr val="9AA4AF"/>
                </a:solidFill>
                <a:latin typeface="Calibri" pitchFamily="34" charset="0"/>
                <a:ea typeface="Calibri" pitchFamily="34" charset="-122"/>
                <a:cs typeface="Calibri" pitchFamily="34" charset="-120"/>
              </a:rPr>
              <a:t>ESP32-CAM, PIR sensor, geophone</a:t>
            </a:r>
            <a:endParaRPr lang="en-US" sz="1300" dirty="0"/>
          </a:p>
        </p:txBody>
      </p:sp>
      <p:sp>
        <p:nvSpPr>
          <p:cNvPr id="9" name="Shape 7"/>
          <p:cNvSpPr/>
          <p:nvPr/>
        </p:nvSpPr>
        <p:spPr>
          <a:xfrm>
            <a:off x="457200" y="2880360"/>
            <a:ext cx="3566160" cy="1600200"/>
          </a:xfrm>
          <a:prstGeom prst="roundRect">
            <a:avLst>
              <a:gd name="adj" fmla="val 4571"/>
            </a:avLst>
          </a:prstGeom>
          <a:solidFill>
            <a:srgbClr val="161B22"/>
          </a:solidFill>
          <a:ln w="12700">
            <a:solidFill>
              <a:srgbClr val="30363D"/>
            </a:solidFill>
            <a:prstDash val="solid"/>
          </a:ln>
        </p:spPr>
      </p:sp>
      <p:sp>
        <p:nvSpPr>
          <p:cNvPr id="10" name="Text 8"/>
          <p:cNvSpPr txBox="1"/>
          <p:nvPr/>
        </p:nvSpPr>
        <p:spPr>
          <a:xfrm>
            <a:off x="685800" y="3081528"/>
            <a:ext cx="3108960" cy="320040"/>
          </a:xfrm>
          <a:prstGeom prst="rect">
            <a:avLst/>
          </a:prstGeom>
          <a:noFill/>
          <a:ln/>
        </p:spPr>
        <p:txBody>
          <a:bodyPr wrap="square" lIns="0" tIns="0" rIns="0" bIns="0" rtlCol="0" anchor="t"/>
          <a:lstStyle/>
          <a:p>
            <a:pPr indent="0" marL="0">
              <a:buNone/>
            </a:pPr>
            <a:r>
              <a:rPr lang="en-US" sz="1500" b="1" dirty="0">
                <a:solidFill>
                  <a:srgbClr val="F0F3F6"/>
                </a:solidFill>
                <a:latin typeface="Calibri" pitchFamily="34" charset="0"/>
                <a:ea typeface="Calibri" pitchFamily="34" charset="-122"/>
                <a:cs typeface="Calibri" pitchFamily="34" charset="-120"/>
              </a:rPr>
              <a:t>2  Detection model</a:t>
            </a:r>
            <a:endParaRPr lang="en-US" sz="1500" dirty="0"/>
          </a:p>
        </p:txBody>
      </p:sp>
      <p:sp>
        <p:nvSpPr>
          <p:cNvPr id="11" name="Text 9"/>
          <p:cNvSpPr txBox="1"/>
          <p:nvPr/>
        </p:nvSpPr>
        <p:spPr>
          <a:xfrm>
            <a:off x="685800" y="3429000"/>
            <a:ext cx="1645920" cy="731520"/>
          </a:xfrm>
          <a:prstGeom prst="rect">
            <a:avLst/>
          </a:prstGeom>
          <a:noFill/>
          <a:ln/>
        </p:spPr>
        <p:txBody>
          <a:bodyPr wrap="square" lIns="0" tIns="0" rIns="0" bIns="0" rtlCol="0" anchor="ctr"/>
          <a:lstStyle/>
          <a:p>
            <a:pPr indent="0" marL="0">
              <a:buNone/>
            </a:pPr>
            <a:r>
              <a:rPr lang="en-US" sz="3800" b="1" dirty="0">
                <a:solidFill>
                  <a:srgbClr val="FFC93C"/>
                </a:solidFill>
                <a:latin typeface="Calibri" pitchFamily="34" charset="0"/>
                <a:ea typeface="Calibri" pitchFamily="34" charset="-122"/>
                <a:cs typeface="Calibri" pitchFamily="34" charset="-120"/>
              </a:rPr>
              <a:t>81.5%</a:t>
            </a:r>
            <a:endParaRPr lang="en-US" sz="3800" dirty="0"/>
          </a:p>
        </p:txBody>
      </p:sp>
      <p:sp>
        <p:nvSpPr>
          <p:cNvPr id="12" name="Text 10"/>
          <p:cNvSpPr txBox="1"/>
          <p:nvPr/>
        </p:nvSpPr>
        <p:spPr>
          <a:xfrm>
            <a:off x="2286000" y="3474720"/>
            <a:ext cx="1600200" cy="731520"/>
          </a:xfrm>
          <a:prstGeom prst="rect">
            <a:avLst/>
          </a:prstGeom>
          <a:noFill/>
          <a:ln/>
        </p:spPr>
        <p:txBody>
          <a:bodyPr wrap="square" lIns="0" tIns="0" rIns="0" bIns="0" rtlCol="0" anchor="ctr"/>
          <a:lstStyle/>
          <a:p>
            <a:pPr indent="0" marL="0">
              <a:buNone/>
            </a:pPr>
            <a:r>
              <a:rPr lang="en-US" sz="1100" dirty="0">
                <a:solidFill>
                  <a:srgbClr val="9AA4AF"/>
                </a:solidFill>
                <a:latin typeface="Calibri" pitchFamily="34" charset="0"/>
                <a:ea typeface="Calibri" pitchFamily="34" charset="-122"/>
                <a:cs typeface="Calibri" pitchFamily="34" charset="-120"/>
              </a:rPr>
              <a:t>mAP50, YOLOv8-nano, trained separately on a wildlife dataset</a:t>
            </a:r>
            <a:endParaRPr lang="en-US" sz="1100" dirty="0"/>
          </a:p>
        </p:txBody>
      </p:sp>
      <p:sp>
        <p:nvSpPr>
          <p:cNvPr id="13" name="Shape 11"/>
          <p:cNvSpPr/>
          <p:nvPr/>
        </p:nvSpPr>
        <p:spPr>
          <a:xfrm>
            <a:off x="4297680" y="1280160"/>
            <a:ext cx="4389120" cy="3200400"/>
          </a:xfrm>
          <a:prstGeom prst="roundRect">
            <a:avLst>
              <a:gd name="adj" fmla="val 2286"/>
            </a:avLst>
          </a:prstGeom>
          <a:solidFill>
            <a:srgbClr val="161B22"/>
          </a:solidFill>
          <a:ln w="25400">
            <a:solidFill>
              <a:srgbClr val="FFC93C"/>
            </a:solidFill>
            <a:prstDash val="solid"/>
          </a:ln>
        </p:spPr>
      </p:sp>
      <p:sp>
        <p:nvSpPr>
          <p:cNvPr id="14" name="Text 12"/>
          <p:cNvSpPr txBox="1"/>
          <p:nvPr/>
        </p:nvSpPr>
        <p:spPr>
          <a:xfrm>
            <a:off x="4553712" y="1508760"/>
            <a:ext cx="2743200" cy="228600"/>
          </a:xfrm>
          <a:prstGeom prst="rect">
            <a:avLst/>
          </a:prstGeom>
          <a:noFill/>
          <a:ln/>
        </p:spPr>
        <p:txBody>
          <a:bodyPr wrap="square" lIns="0" tIns="0" rIns="0" bIns="0" rtlCol="0" anchor="t"/>
          <a:lstStyle/>
          <a:p>
            <a:pPr indent="0" marL="0">
              <a:buNone/>
            </a:pPr>
            <a:r>
              <a:rPr lang="en-US" sz="1100" b="1" spc="200" kern="0" dirty="0">
                <a:solidFill>
                  <a:srgbClr val="FFC93C"/>
                </a:solidFill>
                <a:latin typeface="Calibri" pitchFamily="34" charset="0"/>
                <a:ea typeface="Calibri" pitchFamily="34" charset="-122"/>
                <a:cs typeface="Calibri" pitchFamily="34" charset="-120"/>
              </a:rPr>
              <a:t>MY SCOPE</a:t>
            </a:r>
            <a:endParaRPr lang="en-US" sz="1100" dirty="0"/>
          </a:p>
        </p:txBody>
      </p:sp>
      <p:sp>
        <p:nvSpPr>
          <p:cNvPr id="15" name="Text 13"/>
          <p:cNvSpPr txBox="1"/>
          <p:nvPr/>
        </p:nvSpPr>
        <p:spPr>
          <a:xfrm>
            <a:off x="4553712" y="1783080"/>
            <a:ext cx="3931920" cy="365760"/>
          </a:xfrm>
          <a:prstGeom prst="rect">
            <a:avLst/>
          </a:prstGeom>
          <a:noFill/>
          <a:ln/>
        </p:spPr>
        <p:txBody>
          <a:bodyPr wrap="square" lIns="0" tIns="0" rIns="0" bIns="0" rtlCol="0" anchor="t"/>
          <a:lstStyle/>
          <a:p>
            <a:pPr indent="0" marL="0">
              <a:buNone/>
            </a:pPr>
            <a:r>
              <a:rPr lang="en-US" sz="1700" b="1" dirty="0">
                <a:solidFill>
                  <a:srgbClr val="F0F3F6"/>
                </a:solidFill>
                <a:latin typeface="Calibri" pitchFamily="34" charset="0"/>
                <a:ea typeface="Calibri" pitchFamily="34" charset="-122"/>
                <a:cs typeface="Calibri" pitchFamily="34" charset="-120"/>
              </a:rPr>
              <a:t>3  Communication and alerting layer</a:t>
            </a:r>
            <a:endParaRPr lang="en-US" sz="1700" dirty="0"/>
          </a:p>
        </p:txBody>
      </p:sp>
      <p:sp>
        <p:nvSpPr>
          <p:cNvPr id="16" name="Text 14"/>
          <p:cNvSpPr txBox="1"/>
          <p:nvPr/>
        </p:nvSpPr>
        <p:spPr>
          <a:xfrm>
            <a:off x="4553712" y="2331720"/>
            <a:ext cx="384048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0F3F6"/>
                </a:solidFill>
                <a:latin typeface="Calibri" pitchFamily="34" charset="0"/>
                <a:ea typeface="Calibri" pitchFamily="34" charset="-122"/>
                <a:cs typeface="Calibri" pitchFamily="34" charset="-120"/>
              </a:rPr>
              <a:t>Event ingestion</a:t>
            </a:r>
            <a:endParaRPr lang="en-US" sz="1500" dirty="0"/>
          </a:p>
          <a:p>
            <a:pPr marL="342900" indent="-342900">
              <a:spcAft>
                <a:spcPts val="800"/>
              </a:spcAft>
              <a:buSzPct val="100000"/>
              <a:buChar char="•"/>
            </a:pPr>
            <a:r>
              <a:rPr lang="en-US" sz="1500" dirty="0">
                <a:solidFill>
                  <a:srgbClr val="F0F3F6"/>
                </a:solidFill>
                <a:latin typeface="Calibri" pitchFamily="34" charset="0"/>
                <a:ea typeface="Calibri" pitchFamily="34" charset="-122"/>
                <a:cs typeface="Calibri" pitchFamily="34" charset="-120"/>
              </a:rPr>
              <a:t>Severity scoring</a:t>
            </a:r>
            <a:endParaRPr lang="en-US" sz="1500" dirty="0"/>
          </a:p>
          <a:p>
            <a:pPr marL="342900" indent="-342900">
              <a:spcAft>
                <a:spcPts val="800"/>
              </a:spcAft>
              <a:buSzPct val="100000"/>
              <a:buChar char="•"/>
            </a:pPr>
            <a:r>
              <a:rPr lang="en-US" sz="1500" dirty="0">
                <a:solidFill>
                  <a:srgbClr val="F0F3F6"/>
                </a:solidFill>
                <a:latin typeface="Calibri" pitchFamily="34" charset="0"/>
                <a:ea typeface="Calibri" pitchFamily="34" charset="-122"/>
                <a:cs typeface="Calibri" pitchFamily="34" charset="-120"/>
              </a:rPr>
              <a:t>Multi-node prioritisation</a:t>
            </a:r>
            <a:endParaRPr lang="en-US" sz="1500" dirty="0"/>
          </a:p>
          <a:p>
            <a:pPr marL="342900" indent="-342900">
              <a:spcAft>
                <a:spcPts val="800"/>
              </a:spcAft>
              <a:buSzPct val="100000"/>
              <a:buChar char="•"/>
            </a:pPr>
            <a:r>
              <a:rPr lang="en-US" sz="1500" dirty="0">
                <a:solidFill>
                  <a:srgbClr val="F0F3F6"/>
                </a:solidFill>
                <a:latin typeface="Calibri" pitchFamily="34" charset="0"/>
                <a:ea typeface="Calibri" pitchFamily="34" charset="-122"/>
                <a:cs typeface="Calibri" pitchFamily="34" charset="-120"/>
              </a:rPr>
              <a:t>Data persistence</a:t>
            </a:r>
            <a:endParaRPr lang="en-US" sz="1500" dirty="0"/>
          </a:p>
          <a:p>
            <a:pPr marL="342900" indent="-342900">
              <a:spcAft>
                <a:spcPts val="800"/>
              </a:spcAft>
              <a:buSzPct val="100000"/>
              <a:buChar char="•"/>
            </a:pPr>
            <a:r>
              <a:rPr lang="en-US" sz="1500" dirty="0">
                <a:solidFill>
                  <a:srgbClr val="F0F3F6"/>
                </a:solidFill>
                <a:latin typeface="Calibri" pitchFamily="34" charset="0"/>
                <a:ea typeface="Calibri" pitchFamily="34" charset="-122"/>
                <a:cs typeface="Calibri" pitchFamily="34" charset="-120"/>
              </a:rPr>
              <a:t>Driver and control-room interfaces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System architecture</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097280"/>
            <a:ext cx="8229600" cy="2148840"/>
          </a:xfrm>
          <a:prstGeom prst="roundRect">
            <a:avLst>
              <a:gd name="adj" fmla="val 3404"/>
            </a:avLst>
          </a:prstGeom>
          <a:solidFill>
            <a:srgbClr val="FFFFFF"/>
          </a:solidFill>
          <a:ln w="12700">
            <a:solidFill>
              <a:srgbClr val="FFFFFF"/>
            </a:solidFill>
            <a:prstDash val="solid"/>
          </a:ln>
        </p:spPr>
      </p:sp>
      <p:pic>
        <p:nvPicPr>
          <p:cNvPr id="7" name="Image 0" descr="/home/claude/img/arch.png">    </p:cNvPr>
          <p:cNvPicPr>
            <a:picLocks noChangeAspect="1"/>
          </p:cNvPicPr>
          <p:nvPr/>
        </p:nvPicPr>
        <p:blipFill>
          <a:blip r:embed="rId1"/>
          <a:stretch>
            <a:fillRect/>
          </a:stretch>
        </p:blipFill>
        <p:spPr>
          <a:xfrm>
            <a:off x="640080" y="1188720"/>
            <a:ext cx="7863840" cy="1923453"/>
          </a:xfrm>
          <a:prstGeom prst="rect">
            <a:avLst/>
          </a:prstGeom>
        </p:spPr>
      </p:pic>
      <p:sp>
        <p:nvSpPr>
          <p:cNvPr id="8" name="Shape 5"/>
          <p:cNvSpPr/>
          <p:nvPr/>
        </p:nvSpPr>
        <p:spPr>
          <a:xfrm>
            <a:off x="457200" y="3593592"/>
            <a:ext cx="128016" cy="128016"/>
          </a:xfrm>
          <a:prstGeom prst="ellipse">
            <a:avLst/>
          </a:prstGeom>
          <a:solidFill>
            <a:srgbClr val="FFC93C"/>
          </a:solidFill>
          <a:ln w="12700">
            <a:solidFill>
              <a:srgbClr val="FFC93C"/>
            </a:solidFill>
            <a:prstDash val="solid"/>
          </a:ln>
        </p:spPr>
      </p:sp>
      <p:sp>
        <p:nvSpPr>
          <p:cNvPr id="9" name="Text 6"/>
          <p:cNvSpPr txBox="1"/>
          <p:nvPr/>
        </p:nvSpPr>
        <p:spPr>
          <a:xfrm>
            <a:off x="685800" y="3529584"/>
            <a:ext cx="237744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One pipeline, two sources</a:t>
            </a:r>
            <a:endParaRPr lang="en-US" sz="1400" dirty="0"/>
          </a:p>
        </p:txBody>
      </p:sp>
      <p:sp>
        <p:nvSpPr>
          <p:cNvPr id="10" name="Text 7"/>
          <p:cNvSpPr txBox="1"/>
          <p:nvPr/>
        </p:nvSpPr>
        <p:spPr>
          <a:xfrm>
            <a:off x="685800" y="3858768"/>
            <a:ext cx="2377440" cy="91440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Real ESP32-CAM events and simulator traffic share one path, so the system was built and demoed before hardware.</a:t>
            </a:r>
            <a:endParaRPr lang="en-US" sz="1200" dirty="0"/>
          </a:p>
        </p:txBody>
      </p:sp>
      <p:sp>
        <p:nvSpPr>
          <p:cNvPr id="11" name="Shape 8"/>
          <p:cNvSpPr/>
          <p:nvPr/>
        </p:nvSpPr>
        <p:spPr>
          <a:xfrm>
            <a:off x="3268980" y="3593592"/>
            <a:ext cx="128016" cy="128016"/>
          </a:xfrm>
          <a:prstGeom prst="ellipse">
            <a:avLst/>
          </a:prstGeom>
          <a:solidFill>
            <a:srgbClr val="FFC93C"/>
          </a:solidFill>
          <a:ln w="12700">
            <a:solidFill>
              <a:srgbClr val="FFC93C"/>
            </a:solidFill>
            <a:prstDash val="solid"/>
          </a:ln>
        </p:spPr>
      </p:sp>
      <p:sp>
        <p:nvSpPr>
          <p:cNvPr id="12" name="Text 9"/>
          <p:cNvSpPr txBox="1"/>
          <p:nvPr/>
        </p:nvSpPr>
        <p:spPr>
          <a:xfrm>
            <a:off x="3497580" y="3529584"/>
            <a:ext cx="237744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Server-side inference</a:t>
            </a:r>
            <a:endParaRPr lang="en-US" sz="1400" dirty="0"/>
          </a:p>
        </p:txBody>
      </p:sp>
      <p:sp>
        <p:nvSpPr>
          <p:cNvPr id="13" name="Text 10"/>
          <p:cNvSpPr txBox="1"/>
          <p:nvPr/>
        </p:nvSpPr>
        <p:spPr>
          <a:xfrm>
            <a:off x="3497580" y="3858768"/>
            <a:ext cx="2377440" cy="91440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YOLOv8-nano runs on the server, since the ESP32-CAM cannot run it on-device.</a:t>
            </a:r>
            <a:endParaRPr lang="en-US" sz="1200" dirty="0"/>
          </a:p>
        </p:txBody>
      </p:sp>
      <p:sp>
        <p:nvSpPr>
          <p:cNvPr id="14" name="Shape 11"/>
          <p:cNvSpPr/>
          <p:nvPr/>
        </p:nvSpPr>
        <p:spPr>
          <a:xfrm>
            <a:off x="6080760" y="3593592"/>
            <a:ext cx="128016" cy="128016"/>
          </a:xfrm>
          <a:prstGeom prst="ellipse">
            <a:avLst/>
          </a:prstGeom>
          <a:solidFill>
            <a:srgbClr val="FFC93C"/>
          </a:solidFill>
          <a:ln w="12700">
            <a:solidFill>
              <a:srgbClr val="FFC93C"/>
            </a:solidFill>
            <a:prstDash val="solid"/>
          </a:ln>
        </p:spPr>
      </p:sp>
      <p:sp>
        <p:nvSpPr>
          <p:cNvPr id="15" name="Text 12"/>
          <p:cNvSpPr txBox="1"/>
          <p:nvPr/>
        </p:nvSpPr>
        <p:spPr>
          <a:xfrm>
            <a:off x="6309360" y="3529584"/>
            <a:ext cx="237744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Score, rank, store, broadcast</a:t>
            </a:r>
            <a:endParaRPr lang="en-US" sz="1400" dirty="0"/>
          </a:p>
        </p:txBody>
      </p:sp>
      <p:sp>
        <p:nvSpPr>
          <p:cNvPr id="16" name="Text 13"/>
          <p:cNvSpPr txBox="1"/>
          <p:nvPr/>
        </p:nvSpPr>
        <p:spPr>
          <a:xfrm>
            <a:off x="6309360" y="3858768"/>
            <a:ext cx="2377440" cy="91440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Every event is scored, ranked, saved to SQLite and pushed over WebSocket.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From detection to decision</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188720"/>
            <a:ext cx="5212080" cy="2286000"/>
          </a:xfrm>
          <a:prstGeom prst="roundRect">
            <a:avLst>
              <a:gd name="adj" fmla="val 3200"/>
            </a:avLst>
          </a:prstGeom>
          <a:solidFill>
            <a:srgbClr val="FFFFFF"/>
          </a:solidFill>
          <a:ln w="12700">
            <a:solidFill>
              <a:srgbClr val="FFFFFF"/>
            </a:solidFill>
            <a:prstDash val="solid"/>
          </a:ln>
        </p:spPr>
      </p:sp>
      <p:pic>
        <p:nvPicPr>
          <p:cNvPr id="7" name="Image 0" descr="/home/claude/img/scoring.png">    </p:cNvPr>
          <p:cNvPicPr>
            <a:picLocks noChangeAspect="1"/>
          </p:cNvPicPr>
          <p:nvPr/>
        </p:nvPicPr>
        <p:blipFill>
          <a:blip r:embed="rId1"/>
          <a:stretch>
            <a:fillRect/>
          </a:stretch>
        </p:blipFill>
        <p:spPr>
          <a:xfrm>
            <a:off x="548640" y="1480215"/>
            <a:ext cx="5029200" cy="1703010"/>
          </a:xfrm>
          <a:prstGeom prst="rect">
            <a:avLst/>
          </a:prstGeom>
        </p:spPr>
      </p:pic>
      <p:sp>
        <p:nvSpPr>
          <p:cNvPr id="8" name="Text 5"/>
          <p:cNvSpPr txBox="1"/>
          <p:nvPr/>
        </p:nvSpPr>
        <p:spPr>
          <a:xfrm>
            <a:off x="457200" y="3547872"/>
            <a:ext cx="5212080" cy="27432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Priority scoring logic (simplified). Weights are tunable and documented.</a:t>
            </a:r>
            <a:endParaRPr lang="en-US" sz="1100" dirty="0"/>
          </a:p>
        </p:txBody>
      </p:sp>
      <p:sp>
        <p:nvSpPr>
          <p:cNvPr id="9" name="Shape 6"/>
          <p:cNvSpPr/>
          <p:nvPr/>
        </p:nvSpPr>
        <p:spPr>
          <a:xfrm>
            <a:off x="5943600" y="1188720"/>
            <a:ext cx="2743200" cy="1188720"/>
          </a:xfrm>
          <a:prstGeom prst="roundRect">
            <a:avLst>
              <a:gd name="adj" fmla="val 6154"/>
            </a:avLst>
          </a:prstGeom>
          <a:solidFill>
            <a:srgbClr val="161B22"/>
          </a:solidFill>
          <a:ln w="12700">
            <a:solidFill>
              <a:srgbClr val="30363D"/>
            </a:solidFill>
            <a:prstDash val="solid"/>
          </a:ln>
        </p:spPr>
      </p:sp>
      <p:sp>
        <p:nvSpPr>
          <p:cNvPr id="10" name="Text 7"/>
          <p:cNvSpPr txBox="1"/>
          <p:nvPr/>
        </p:nvSpPr>
        <p:spPr>
          <a:xfrm>
            <a:off x="6126480" y="1298448"/>
            <a:ext cx="2377440" cy="274320"/>
          </a:xfrm>
          <a:prstGeom prst="rect">
            <a:avLst/>
          </a:prstGeom>
          <a:noFill/>
          <a:ln/>
        </p:spPr>
        <p:txBody>
          <a:bodyPr wrap="square" lIns="0" tIns="0" rIns="0" bIns="0" rtlCol="0" anchor="t"/>
          <a:lstStyle/>
          <a:p>
            <a:pPr indent="0" marL="0">
              <a:buNone/>
            </a:pPr>
            <a:r>
              <a:rPr lang="en-US" sz="1400" b="1" dirty="0">
                <a:solidFill>
                  <a:srgbClr val="FFC93C"/>
                </a:solidFill>
                <a:latin typeface="Calibri" pitchFamily="34" charset="0"/>
                <a:ea typeface="Calibri" pitchFamily="34" charset="-122"/>
                <a:cs typeface="Calibri" pitchFamily="34" charset="-120"/>
              </a:rPr>
              <a:t>Multi-node ranking</a:t>
            </a:r>
            <a:endParaRPr lang="en-US" sz="1400" dirty="0"/>
          </a:p>
        </p:txBody>
      </p:sp>
      <p:sp>
        <p:nvSpPr>
          <p:cNvPr id="11" name="Text 8"/>
          <p:cNvSpPr txBox="1"/>
          <p:nvPr/>
        </p:nvSpPr>
        <p:spPr>
          <a:xfrm>
            <a:off x="6126480" y="1600200"/>
            <a:ext cx="2377440" cy="777240"/>
          </a:xfrm>
          <a:prstGeom prst="rect">
            <a:avLst/>
          </a:prstGeom>
          <a:noFill/>
          <a:ln/>
        </p:spPr>
        <p:txBody>
          <a:bodyPr wrap="square" lIns="0" tIns="0" rIns="0" bIns="0" rtlCol="0" anchor="t"/>
          <a:lstStyle/>
          <a:p>
            <a:pPr indent="0" marL="0">
              <a:buNone/>
            </a:pPr>
            <a:r>
              <a:rPr lang="en-US" sz="1150" dirty="0">
                <a:solidFill>
                  <a:srgbClr val="F0F3F6"/>
                </a:solidFill>
                <a:latin typeface="Calibri" pitchFamily="34" charset="0"/>
                <a:ea typeface="Calibri" pitchFamily="34" charset="-122"/>
                <a:cs typeface="Calibri" pitchFamily="34" charset="-120"/>
              </a:rPr>
              <a:t>Events are ranked by severity and proximity. The driver sees the single most urgent one; others queue as secondary alerts.</a:t>
            </a:r>
            <a:endParaRPr lang="en-US" sz="1150" dirty="0"/>
          </a:p>
        </p:txBody>
      </p:sp>
      <p:sp>
        <p:nvSpPr>
          <p:cNvPr id="12" name="Shape 9"/>
          <p:cNvSpPr/>
          <p:nvPr/>
        </p:nvSpPr>
        <p:spPr>
          <a:xfrm>
            <a:off x="5943600" y="2514600"/>
            <a:ext cx="2743200" cy="960120"/>
          </a:xfrm>
          <a:prstGeom prst="roundRect">
            <a:avLst>
              <a:gd name="adj" fmla="val 7619"/>
            </a:avLst>
          </a:prstGeom>
          <a:solidFill>
            <a:srgbClr val="161B22"/>
          </a:solidFill>
          <a:ln w="12700">
            <a:solidFill>
              <a:srgbClr val="30363D"/>
            </a:solidFill>
            <a:prstDash val="solid"/>
          </a:ln>
        </p:spPr>
      </p:sp>
      <p:sp>
        <p:nvSpPr>
          <p:cNvPr id="13" name="Text 10"/>
          <p:cNvSpPr txBox="1"/>
          <p:nvPr/>
        </p:nvSpPr>
        <p:spPr>
          <a:xfrm>
            <a:off x="6126480" y="2624328"/>
            <a:ext cx="2377440" cy="274320"/>
          </a:xfrm>
          <a:prstGeom prst="rect">
            <a:avLst/>
          </a:prstGeom>
          <a:noFill/>
          <a:ln/>
        </p:spPr>
        <p:txBody>
          <a:bodyPr wrap="square" lIns="0" tIns="0" rIns="0" bIns="0" rtlCol="0" anchor="t"/>
          <a:lstStyle/>
          <a:p>
            <a:pPr indent="0" marL="0">
              <a:buNone/>
            </a:pPr>
            <a:r>
              <a:rPr lang="en-US" sz="1400" b="1" dirty="0">
                <a:solidFill>
                  <a:srgbClr val="FFC93C"/>
                </a:solidFill>
                <a:latin typeface="Calibri" pitchFamily="34" charset="0"/>
                <a:ea typeface="Calibri" pitchFamily="34" charset="-122"/>
                <a:cs typeface="Calibri" pitchFamily="34" charset="-120"/>
              </a:rPr>
              <a:t>Persistence</a:t>
            </a:r>
            <a:endParaRPr lang="en-US" sz="1400" dirty="0"/>
          </a:p>
        </p:txBody>
      </p:sp>
      <p:sp>
        <p:nvSpPr>
          <p:cNvPr id="14" name="Text 11"/>
          <p:cNvSpPr txBox="1"/>
          <p:nvPr/>
        </p:nvSpPr>
        <p:spPr>
          <a:xfrm>
            <a:off x="6126480" y="2926080"/>
            <a:ext cx="2377440" cy="502920"/>
          </a:xfrm>
          <a:prstGeom prst="rect">
            <a:avLst/>
          </a:prstGeom>
          <a:noFill/>
          <a:ln/>
        </p:spPr>
        <p:txBody>
          <a:bodyPr wrap="square" lIns="0" tIns="0" rIns="0" bIns="0" rtlCol="0" anchor="t"/>
          <a:lstStyle/>
          <a:p>
            <a:pPr indent="0" marL="0">
              <a:buNone/>
            </a:pPr>
            <a:r>
              <a:rPr lang="en-US" sz="1150" dirty="0">
                <a:solidFill>
                  <a:srgbClr val="F0F3F6"/>
                </a:solidFill>
                <a:latin typeface="Calibri" pitchFamily="34" charset="0"/>
                <a:ea typeface="Calibri" pitchFamily="34" charset="-122"/>
                <a:cs typeface="Calibri" pitchFamily="34" charset="-120"/>
              </a:rPr>
              <a:t>Every event is logged to SQLite for the control room and future path tracing.</a:t>
            </a:r>
            <a:endParaRPr lang="en-US" sz="1150" dirty="0"/>
          </a:p>
        </p:txBody>
      </p:sp>
      <p:sp>
        <p:nvSpPr>
          <p:cNvPr id="15" name="Text 12"/>
          <p:cNvSpPr txBox="1"/>
          <p:nvPr/>
        </p:nvSpPr>
        <p:spPr>
          <a:xfrm>
            <a:off x="457200" y="3931920"/>
            <a:ext cx="3657600" cy="228600"/>
          </a:xfrm>
          <a:prstGeom prst="rect">
            <a:avLst/>
          </a:prstGeom>
          <a:noFill/>
          <a:ln/>
        </p:spPr>
        <p:txBody>
          <a:bodyPr wrap="square" lIns="0" tIns="0" rIns="0" bIns="0" rtlCol="0" anchor="t"/>
          <a:lstStyle/>
          <a:p>
            <a:pPr indent="0" marL="0">
              <a:buNone/>
            </a:pPr>
            <a:r>
              <a:rPr lang="en-US" sz="1100" b="1" spc="200" kern="0" dirty="0">
                <a:solidFill>
                  <a:srgbClr val="9AA4AF"/>
                </a:solidFill>
                <a:latin typeface="Calibri" pitchFamily="34" charset="0"/>
                <a:ea typeface="Calibri" pitchFamily="34" charset="-122"/>
                <a:cs typeface="Calibri" pitchFamily="34" charset="-120"/>
              </a:rPr>
              <a:t>SERVER-SIDE PIPELINE</a:t>
            </a:r>
            <a:endParaRPr lang="en-US" sz="1100" dirty="0"/>
          </a:p>
        </p:txBody>
      </p:sp>
      <p:sp>
        <p:nvSpPr>
          <p:cNvPr id="16" name="Shape 13"/>
          <p:cNvSpPr/>
          <p:nvPr/>
        </p:nvSpPr>
        <p:spPr>
          <a:xfrm>
            <a:off x="457200" y="4206240"/>
            <a:ext cx="1188720" cy="457200"/>
          </a:xfrm>
          <a:prstGeom prst="roundRect">
            <a:avLst>
              <a:gd name="adj" fmla="val 12000"/>
            </a:avLst>
          </a:prstGeom>
          <a:solidFill>
            <a:srgbClr val="21262D"/>
          </a:solidFill>
          <a:ln w="12700">
            <a:solidFill>
              <a:srgbClr val="30363D"/>
            </a:solidFill>
            <a:prstDash val="solid"/>
          </a:ln>
        </p:spPr>
      </p:sp>
      <p:sp>
        <p:nvSpPr>
          <p:cNvPr id="17" name="Text 14"/>
          <p:cNvSpPr txBox="1"/>
          <p:nvPr/>
        </p:nvSpPr>
        <p:spPr>
          <a:xfrm>
            <a:off x="457200" y="4206240"/>
            <a:ext cx="1188720" cy="457200"/>
          </a:xfrm>
          <a:prstGeom prst="rect">
            <a:avLst/>
          </a:prstGeom>
          <a:noFill/>
          <a:ln/>
        </p:spPr>
        <p:txBody>
          <a:bodyPr wrap="square" lIns="0" tIns="0" rIns="0" bIns="0" rtlCol="0" anchor="ctr"/>
          <a:lstStyle/>
          <a:p>
            <a:pPr algn="ctr" indent="0" marL="0">
              <a:buNone/>
            </a:pPr>
            <a:r>
              <a:rPr lang="en-US" sz="1300" b="1" dirty="0">
                <a:solidFill>
                  <a:srgbClr val="F0F3F6"/>
                </a:solidFill>
                <a:latin typeface="Calibri" pitchFamily="34" charset="0"/>
                <a:ea typeface="Calibri" pitchFamily="34" charset="-122"/>
                <a:cs typeface="Calibri" pitchFamily="34" charset="-120"/>
              </a:rPr>
              <a:t>Receive</a:t>
            </a:r>
            <a:endParaRPr lang="en-US" sz="1300" dirty="0"/>
          </a:p>
        </p:txBody>
      </p:sp>
      <p:sp>
        <p:nvSpPr>
          <p:cNvPr id="18" name="Shape 15"/>
          <p:cNvSpPr/>
          <p:nvPr/>
        </p:nvSpPr>
        <p:spPr>
          <a:xfrm>
            <a:off x="1673352" y="4352544"/>
            <a:ext cx="128016" cy="164592"/>
          </a:xfrm>
          <a:prstGeom prst="rightArrow">
            <a:avLst/>
          </a:prstGeom>
          <a:solidFill>
            <a:srgbClr val="9AA4AF"/>
          </a:solidFill>
          <a:ln w="12700">
            <a:solidFill>
              <a:srgbClr val="9AA4AF"/>
            </a:solidFill>
            <a:prstDash val="solid"/>
          </a:ln>
        </p:spPr>
      </p:sp>
      <p:sp>
        <p:nvSpPr>
          <p:cNvPr id="19" name="Shape 16"/>
          <p:cNvSpPr/>
          <p:nvPr/>
        </p:nvSpPr>
        <p:spPr>
          <a:xfrm>
            <a:off x="1828800" y="4206240"/>
            <a:ext cx="1188720" cy="457200"/>
          </a:xfrm>
          <a:prstGeom prst="roundRect">
            <a:avLst>
              <a:gd name="adj" fmla="val 12000"/>
            </a:avLst>
          </a:prstGeom>
          <a:solidFill>
            <a:srgbClr val="21262D"/>
          </a:solidFill>
          <a:ln w="12700">
            <a:solidFill>
              <a:srgbClr val="30363D"/>
            </a:solidFill>
            <a:prstDash val="solid"/>
          </a:ln>
        </p:spPr>
      </p:sp>
      <p:sp>
        <p:nvSpPr>
          <p:cNvPr id="20" name="Text 17"/>
          <p:cNvSpPr txBox="1"/>
          <p:nvPr/>
        </p:nvSpPr>
        <p:spPr>
          <a:xfrm>
            <a:off x="1828800" y="4206240"/>
            <a:ext cx="1188720" cy="457200"/>
          </a:xfrm>
          <a:prstGeom prst="rect">
            <a:avLst/>
          </a:prstGeom>
          <a:noFill/>
          <a:ln/>
        </p:spPr>
        <p:txBody>
          <a:bodyPr wrap="square" lIns="0" tIns="0" rIns="0" bIns="0" rtlCol="0" anchor="ctr"/>
          <a:lstStyle/>
          <a:p>
            <a:pPr algn="ctr" indent="0" marL="0">
              <a:buNone/>
            </a:pPr>
            <a:r>
              <a:rPr lang="en-US" sz="1300" b="1" dirty="0">
                <a:solidFill>
                  <a:srgbClr val="F0F3F6"/>
                </a:solidFill>
                <a:latin typeface="Calibri" pitchFamily="34" charset="0"/>
                <a:ea typeface="Calibri" pitchFamily="34" charset="-122"/>
                <a:cs typeface="Calibri" pitchFamily="34" charset="-120"/>
              </a:rPr>
              <a:t>Validate</a:t>
            </a:r>
            <a:endParaRPr lang="en-US" sz="1300" dirty="0"/>
          </a:p>
        </p:txBody>
      </p:sp>
      <p:sp>
        <p:nvSpPr>
          <p:cNvPr id="21" name="Shape 18"/>
          <p:cNvSpPr/>
          <p:nvPr/>
        </p:nvSpPr>
        <p:spPr>
          <a:xfrm>
            <a:off x="3044952" y="4352544"/>
            <a:ext cx="128016" cy="164592"/>
          </a:xfrm>
          <a:prstGeom prst="rightArrow">
            <a:avLst/>
          </a:prstGeom>
          <a:solidFill>
            <a:srgbClr val="9AA4AF"/>
          </a:solidFill>
          <a:ln w="12700">
            <a:solidFill>
              <a:srgbClr val="9AA4AF"/>
            </a:solidFill>
            <a:prstDash val="solid"/>
          </a:ln>
        </p:spPr>
      </p:sp>
      <p:sp>
        <p:nvSpPr>
          <p:cNvPr id="22" name="Shape 19"/>
          <p:cNvSpPr/>
          <p:nvPr/>
        </p:nvSpPr>
        <p:spPr>
          <a:xfrm>
            <a:off x="3200400" y="4206240"/>
            <a:ext cx="1188720" cy="457200"/>
          </a:xfrm>
          <a:prstGeom prst="roundRect">
            <a:avLst>
              <a:gd name="adj" fmla="val 12000"/>
            </a:avLst>
          </a:prstGeom>
          <a:solidFill>
            <a:srgbClr val="21262D"/>
          </a:solidFill>
          <a:ln w="12700">
            <a:solidFill>
              <a:srgbClr val="30363D"/>
            </a:solidFill>
            <a:prstDash val="solid"/>
          </a:ln>
        </p:spPr>
      </p:sp>
      <p:sp>
        <p:nvSpPr>
          <p:cNvPr id="23" name="Text 20"/>
          <p:cNvSpPr txBox="1"/>
          <p:nvPr/>
        </p:nvSpPr>
        <p:spPr>
          <a:xfrm>
            <a:off x="3200400" y="4206240"/>
            <a:ext cx="1188720" cy="457200"/>
          </a:xfrm>
          <a:prstGeom prst="rect">
            <a:avLst/>
          </a:prstGeom>
          <a:noFill/>
          <a:ln/>
        </p:spPr>
        <p:txBody>
          <a:bodyPr wrap="square" lIns="0" tIns="0" rIns="0" bIns="0" rtlCol="0" anchor="ctr"/>
          <a:lstStyle/>
          <a:p>
            <a:pPr algn="ctr" indent="0" marL="0">
              <a:buNone/>
            </a:pPr>
            <a:r>
              <a:rPr lang="en-US" sz="1300" b="1" dirty="0">
                <a:solidFill>
                  <a:srgbClr val="F0F3F6"/>
                </a:solidFill>
                <a:latin typeface="Calibri" pitchFamily="34" charset="0"/>
                <a:ea typeface="Calibri" pitchFamily="34" charset="-122"/>
                <a:cs typeface="Calibri" pitchFamily="34" charset="-120"/>
              </a:rPr>
              <a:t>Infer</a:t>
            </a:r>
            <a:endParaRPr lang="en-US" sz="1300" dirty="0"/>
          </a:p>
        </p:txBody>
      </p:sp>
      <p:sp>
        <p:nvSpPr>
          <p:cNvPr id="24" name="Shape 21"/>
          <p:cNvSpPr/>
          <p:nvPr/>
        </p:nvSpPr>
        <p:spPr>
          <a:xfrm>
            <a:off x="4416552" y="4352544"/>
            <a:ext cx="128016" cy="164592"/>
          </a:xfrm>
          <a:prstGeom prst="rightArrow">
            <a:avLst/>
          </a:prstGeom>
          <a:solidFill>
            <a:srgbClr val="9AA4AF"/>
          </a:solidFill>
          <a:ln w="12700">
            <a:solidFill>
              <a:srgbClr val="9AA4AF"/>
            </a:solidFill>
            <a:prstDash val="solid"/>
          </a:ln>
        </p:spPr>
      </p:sp>
      <p:sp>
        <p:nvSpPr>
          <p:cNvPr id="25" name="Shape 22"/>
          <p:cNvSpPr/>
          <p:nvPr/>
        </p:nvSpPr>
        <p:spPr>
          <a:xfrm>
            <a:off x="4572000" y="4206240"/>
            <a:ext cx="1188720" cy="457200"/>
          </a:xfrm>
          <a:prstGeom prst="roundRect">
            <a:avLst>
              <a:gd name="adj" fmla="val 12000"/>
            </a:avLst>
          </a:prstGeom>
          <a:solidFill>
            <a:srgbClr val="FFC93C"/>
          </a:solidFill>
          <a:ln w="12700">
            <a:solidFill>
              <a:srgbClr val="FFC93C"/>
            </a:solidFill>
            <a:prstDash val="solid"/>
          </a:ln>
        </p:spPr>
      </p:sp>
      <p:sp>
        <p:nvSpPr>
          <p:cNvPr id="26" name="Text 23"/>
          <p:cNvSpPr txBox="1"/>
          <p:nvPr/>
        </p:nvSpPr>
        <p:spPr>
          <a:xfrm>
            <a:off x="4572000" y="4206240"/>
            <a:ext cx="1188720" cy="457200"/>
          </a:xfrm>
          <a:prstGeom prst="rect">
            <a:avLst/>
          </a:prstGeom>
          <a:noFill/>
          <a:ln/>
        </p:spPr>
        <p:txBody>
          <a:bodyPr wrap="square" lIns="0" tIns="0" rIns="0" bIns="0" rtlCol="0" anchor="ctr"/>
          <a:lstStyle/>
          <a:p>
            <a:pPr algn="ctr" indent="0" marL="0">
              <a:buNone/>
            </a:pPr>
            <a:r>
              <a:rPr lang="en-US" sz="1300" b="1" dirty="0">
                <a:solidFill>
                  <a:srgbClr val="0D1117"/>
                </a:solidFill>
                <a:latin typeface="Calibri" pitchFamily="34" charset="0"/>
                <a:ea typeface="Calibri" pitchFamily="34" charset="-122"/>
                <a:cs typeface="Calibri" pitchFamily="34" charset="-120"/>
              </a:rPr>
              <a:t>Score</a:t>
            </a:r>
            <a:endParaRPr lang="en-US" sz="1300" dirty="0"/>
          </a:p>
        </p:txBody>
      </p:sp>
      <p:sp>
        <p:nvSpPr>
          <p:cNvPr id="27" name="Shape 24"/>
          <p:cNvSpPr/>
          <p:nvPr/>
        </p:nvSpPr>
        <p:spPr>
          <a:xfrm>
            <a:off x="5788152" y="4352544"/>
            <a:ext cx="128016" cy="164592"/>
          </a:xfrm>
          <a:prstGeom prst="rightArrow">
            <a:avLst/>
          </a:prstGeom>
          <a:solidFill>
            <a:srgbClr val="9AA4AF"/>
          </a:solidFill>
          <a:ln w="12700">
            <a:solidFill>
              <a:srgbClr val="9AA4AF"/>
            </a:solidFill>
            <a:prstDash val="solid"/>
          </a:ln>
        </p:spPr>
      </p:sp>
      <p:sp>
        <p:nvSpPr>
          <p:cNvPr id="28" name="Shape 25"/>
          <p:cNvSpPr/>
          <p:nvPr/>
        </p:nvSpPr>
        <p:spPr>
          <a:xfrm>
            <a:off x="5943600" y="4206240"/>
            <a:ext cx="1188720" cy="457200"/>
          </a:xfrm>
          <a:prstGeom prst="roundRect">
            <a:avLst>
              <a:gd name="adj" fmla="val 12000"/>
            </a:avLst>
          </a:prstGeom>
          <a:solidFill>
            <a:srgbClr val="21262D"/>
          </a:solidFill>
          <a:ln w="12700">
            <a:solidFill>
              <a:srgbClr val="30363D"/>
            </a:solidFill>
            <a:prstDash val="solid"/>
          </a:ln>
        </p:spPr>
      </p:sp>
      <p:sp>
        <p:nvSpPr>
          <p:cNvPr id="29" name="Text 26"/>
          <p:cNvSpPr txBox="1"/>
          <p:nvPr/>
        </p:nvSpPr>
        <p:spPr>
          <a:xfrm>
            <a:off x="5943600" y="4206240"/>
            <a:ext cx="1188720" cy="457200"/>
          </a:xfrm>
          <a:prstGeom prst="rect">
            <a:avLst/>
          </a:prstGeom>
          <a:noFill/>
          <a:ln/>
        </p:spPr>
        <p:txBody>
          <a:bodyPr wrap="square" lIns="0" tIns="0" rIns="0" bIns="0" rtlCol="0" anchor="ctr"/>
          <a:lstStyle/>
          <a:p>
            <a:pPr algn="ctr" indent="0" marL="0">
              <a:buNone/>
            </a:pPr>
            <a:r>
              <a:rPr lang="en-US" sz="1300" b="1" dirty="0">
                <a:solidFill>
                  <a:srgbClr val="F0F3F6"/>
                </a:solidFill>
                <a:latin typeface="Calibri" pitchFamily="34" charset="0"/>
                <a:ea typeface="Calibri" pitchFamily="34" charset="-122"/>
                <a:cs typeface="Calibri" pitchFamily="34" charset="-120"/>
              </a:rPr>
              <a:t>Store</a:t>
            </a:r>
            <a:endParaRPr lang="en-US" sz="1300" dirty="0"/>
          </a:p>
        </p:txBody>
      </p:sp>
      <p:sp>
        <p:nvSpPr>
          <p:cNvPr id="30" name="Shape 27"/>
          <p:cNvSpPr/>
          <p:nvPr/>
        </p:nvSpPr>
        <p:spPr>
          <a:xfrm>
            <a:off x="7159752" y="4352544"/>
            <a:ext cx="128016" cy="164592"/>
          </a:xfrm>
          <a:prstGeom prst="rightArrow">
            <a:avLst/>
          </a:prstGeom>
          <a:solidFill>
            <a:srgbClr val="9AA4AF"/>
          </a:solidFill>
          <a:ln w="12700">
            <a:solidFill>
              <a:srgbClr val="9AA4AF"/>
            </a:solidFill>
            <a:prstDash val="solid"/>
          </a:ln>
        </p:spPr>
      </p:sp>
      <p:sp>
        <p:nvSpPr>
          <p:cNvPr id="31" name="Shape 28"/>
          <p:cNvSpPr/>
          <p:nvPr/>
        </p:nvSpPr>
        <p:spPr>
          <a:xfrm>
            <a:off x="7315200" y="4206240"/>
            <a:ext cx="1188720" cy="457200"/>
          </a:xfrm>
          <a:prstGeom prst="roundRect">
            <a:avLst>
              <a:gd name="adj" fmla="val 12000"/>
            </a:avLst>
          </a:prstGeom>
          <a:solidFill>
            <a:srgbClr val="21262D"/>
          </a:solidFill>
          <a:ln w="12700">
            <a:solidFill>
              <a:srgbClr val="30363D"/>
            </a:solidFill>
            <a:prstDash val="solid"/>
          </a:ln>
        </p:spPr>
      </p:sp>
      <p:sp>
        <p:nvSpPr>
          <p:cNvPr id="32" name="Text 29"/>
          <p:cNvSpPr txBox="1"/>
          <p:nvPr/>
        </p:nvSpPr>
        <p:spPr>
          <a:xfrm>
            <a:off x="7315200" y="4206240"/>
            <a:ext cx="1188720" cy="457200"/>
          </a:xfrm>
          <a:prstGeom prst="rect">
            <a:avLst/>
          </a:prstGeom>
          <a:noFill/>
          <a:ln/>
        </p:spPr>
        <p:txBody>
          <a:bodyPr wrap="square" lIns="0" tIns="0" rIns="0" bIns="0" rtlCol="0" anchor="ctr"/>
          <a:lstStyle/>
          <a:p>
            <a:pPr algn="ctr" indent="0" marL="0">
              <a:buNone/>
            </a:pPr>
            <a:r>
              <a:rPr lang="en-US" sz="1300" b="1" dirty="0">
                <a:solidFill>
                  <a:srgbClr val="F0F3F6"/>
                </a:solidFill>
                <a:latin typeface="Calibri" pitchFamily="34" charset="0"/>
                <a:ea typeface="Calibri" pitchFamily="34" charset="-122"/>
                <a:cs typeface="Calibri" pitchFamily="34" charset="-120"/>
              </a:rPr>
              <a:t>Broadcast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Live demo: end to end over WiFi</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234440"/>
            <a:ext cx="4023360" cy="1939756"/>
          </a:xfrm>
          <a:prstGeom prst="rect">
            <a:avLst/>
          </a:prstGeom>
          <a:solidFill>
            <a:srgbClr val="0D1117"/>
          </a:solidFill>
          <a:ln w="12700">
            <a:solidFill>
              <a:srgbClr val="30363D"/>
            </a:solidFill>
            <a:prstDash val="solid"/>
          </a:ln>
        </p:spPr>
      </p:sp>
      <p:pic>
        <p:nvPicPr>
          <p:cNvPr id="7" name="Image 0" descr="/home/claude/img/driver.png">    </p:cNvPr>
          <p:cNvPicPr>
            <a:picLocks noChangeAspect="1"/>
          </p:cNvPicPr>
          <p:nvPr/>
        </p:nvPicPr>
        <p:blipFill>
          <a:blip r:embed="rId1"/>
          <a:stretch>
            <a:fillRect/>
          </a:stretch>
        </p:blipFill>
        <p:spPr>
          <a:xfrm>
            <a:off x="457200" y="1234440"/>
            <a:ext cx="4023360" cy="1939756"/>
          </a:xfrm>
          <a:prstGeom prst="rect">
            <a:avLst/>
          </a:prstGeom>
        </p:spPr>
      </p:pic>
      <p:sp>
        <p:nvSpPr>
          <p:cNvPr id="8" name="Shape 5"/>
          <p:cNvSpPr/>
          <p:nvPr/>
        </p:nvSpPr>
        <p:spPr>
          <a:xfrm>
            <a:off x="4663440" y="1234440"/>
            <a:ext cx="4023360" cy="2079985"/>
          </a:xfrm>
          <a:prstGeom prst="rect">
            <a:avLst/>
          </a:prstGeom>
          <a:solidFill>
            <a:srgbClr val="0D1117"/>
          </a:solidFill>
          <a:ln w="12700">
            <a:solidFill>
              <a:srgbClr val="30363D"/>
            </a:solidFill>
            <a:prstDash val="solid"/>
          </a:ln>
        </p:spPr>
      </p:sp>
      <p:pic>
        <p:nvPicPr>
          <p:cNvPr id="9" name="Image 1" descr="/home/claude/img/control.png">    </p:cNvPr>
          <p:cNvPicPr>
            <a:picLocks noChangeAspect="1"/>
          </p:cNvPicPr>
          <p:nvPr/>
        </p:nvPicPr>
        <p:blipFill>
          <a:blip r:embed="rId2"/>
          <a:stretch>
            <a:fillRect/>
          </a:stretch>
        </p:blipFill>
        <p:spPr>
          <a:xfrm>
            <a:off x="4663440" y="1234440"/>
            <a:ext cx="4023360" cy="2079985"/>
          </a:xfrm>
          <a:prstGeom prst="rect">
            <a:avLst/>
          </a:prstGeom>
        </p:spPr>
      </p:pic>
      <p:sp>
        <p:nvSpPr>
          <p:cNvPr id="10" name="Text 6"/>
          <p:cNvSpPr txBox="1"/>
          <p:nvPr/>
        </p:nvSpPr>
        <p:spPr>
          <a:xfrm>
            <a:off x="457200" y="3520440"/>
            <a:ext cx="40233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Driver dashboard</a:t>
            </a:r>
            <a:endParaRPr lang="en-US" sz="1400" dirty="0"/>
          </a:p>
        </p:txBody>
      </p:sp>
      <p:sp>
        <p:nvSpPr>
          <p:cNvPr id="11" name="Text 7"/>
          <p:cNvSpPr txBox="1"/>
          <p:nvPr/>
        </p:nvSpPr>
        <p:spPr>
          <a:xfrm>
            <a:off x="457200" y="3794760"/>
            <a:ext cx="4023360" cy="45720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CAUTION state: slow and brake highlighted, with animal and node shown.</a:t>
            </a:r>
            <a:endParaRPr lang="en-US" sz="1200" dirty="0"/>
          </a:p>
        </p:txBody>
      </p:sp>
      <p:sp>
        <p:nvSpPr>
          <p:cNvPr id="12" name="Text 8"/>
          <p:cNvSpPr txBox="1"/>
          <p:nvPr/>
        </p:nvSpPr>
        <p:spPr>
          <a:xfrm>
            <a:off x="4663440" y="3520440"/>
            <a:ext cx="40233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Control-room dashboard</a:t>
            </a:r>
            <a:endParaRPr lang="en-US" sz="1400" dirty="0"/>
          </a:p>
        </p:txBody>
      </p:sp>
      <p:sp>
        <p:nvSpPr>
          <p:cNvPr id="13" name="Text 9"/>
          <p:cNvSpPr txBox="1"/>
          <p:nvPr/>
        </p:nvSpPr>
        <p:spPr>
          <a:xfrm>
            <a:off x="4663440" y="3794760"/>
            <a:ext cx="4023360" cy="45720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Node status, live feed, per-node species counts, history with severity and score.</a:t>
            </a:r>
            <a:endParaRPr lang="en-US" sz="1200" dirty="0"/>
          </a:p>
        </p:txBody>
      </p:sp>
      <p:sp>
        <p:nvSpPr>
          <p:cNvPr id="14" name="Shape 10"/>
          <p:cNvSpPr/>
          <p:nvPr/>
        </p:nvSpPr>
        <p:spPr>
          <a:xfrm>
            <a:off x="457200" y="4343400"/>
            <a:ext cx="8229600" cy="457200"/>
          </a:xfrm>
          <a:prstGeom prst="roundRect">
            <a:avLst>
              <a:gd name="adj" fmla="val 16000"/>
            </a:avLst>
          </a:prstGeom>
          <a:solidFill>
            <a:srgbClr val="161B22"/>
          </a:solidFill>
          <a:ln w="12700">
            <a:solidFill>
              <a:srgbClr val="30363D"/>
            </a:solidFill>
            <a:prstDash val="solid"/>
          </a:ln>
        </p:spPr>
      </p:sp>
      <p:sp>
        <p:nvSpPr>
          <p:cNvPr id="15" name="Shape 11"/>
          <p:cNvSpPr/>
          <p:nvPr/>
        </p:nvSpPr>
        <p:spPr>
          <a:xfrm>
            <a:off x="658368" y="4498848"/>
            <a:ext cx="146304" cy="146304"/>
          </a:xfrm>
          <a:prstGeom prst="ellipse">
            <a:avLst/>
          </a:prstGeom>
          <a:solidFill>
            <a:srgbClr val="3FB950"/>
          </a:solidFill>
          <a:ln w="12700">
            <a:solidFill>
              <a:srgbClr val="3FB950"/>
            </a:solidFill>
            <a:prstDash val="solid"/>
          </a:ln>
        </p:spPr>
      </p:sp>
      <p:sp>
        <p:nvSpPr>
          <p:cNvPr id="16" name="Text 12"/>
          <p:cNvSpPr txBox="1"/>
          <p:nvPr/>
        </p:nvSpPr>
        <p:spPr>
          <a:xfrm>
            <a:off x="914400" y="4343400"/>
            <a:ext cx="7680960" cy="457200"/>
          </a:xfrm>
          <a:prstGeom prst="rect">
            <a:avLst/>
          </a:prstGeom>
          <a:noFill/>
          <a:ln/>
        </p:spPr>
        <p:txBody>
          <a:bodyPr wrap="square" lIns="0" tIns="0" rIns="0" bIns="0" rtlCol="0" anchor="ctr"/>
          <a:lstStyle/>
          <a:p>
            <a:pPr indent="0" marL="0">
              <a:buNone/>
            </a:pPr>
            <a:r>
              <a:rPr lang="en-US" sz="1250" dirty="0">
                <a:solidFill>
                  <a:srgbClr val="F0F3F6"/>
                </a:solidFill>
                <a:latin typeface="Calibri" pitchFamily="34" charset="0"/>
                <a:ea typeface="Calibri" pitchFamily="34" charset="-122"/>
                <a:cs typeface="Calibri" pitchFamily="34" charset="-120"/>
              </a:rPr>
              <a:t>Events posted to FastAPI, updated live over WebSocket, across two separate devices on the same WiFi.</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Hardware status and open items</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188720"/>
            <a:ext cx="4206240" cy="1691640"/>
          </a:xfrm>
          <a:prstGeom prst="roundRect">
            <a:avLst>
              <a:gd name="adj" fmla="val 4324"/>
            </a:avLst>
          </a:prstGeom>
          <a:solidFill>
            <a:srgbClr val="FFFFFF"/>
          </a:solidFill>
          <a:ln w="12700">
            <a:solidFill>
              <a:srgbClr val="FFFFFF"/>
            </a:solidFill>
            <a:prstDash val="solid"/>
          </a:ln>
        </p:spPr>
      </p:sp>
      <p:pic>
        <p:nvPicPr>
          <p:cNvPr id="7" name="Image 0" descr="/home/claude/img/firmware.png">    </p:cNvPr>
          <p:cNvPicPr>
            <a:picLocks noChangeAspect="1"/>
          </p:cNvPicPr>
          <p:nvPr/>
        </p:nvPicPr>
        <p:blipFill>
          <a:blip r:embed="rId1"/>
          <a:stretch>
            <a:fillRect/>
          </a:stretch>
        </p:blipFill>
        <p:spPr>
          <a:xfrm>
            <a:off x="548640" y="1284780"/>
            <a:ext cx="4023360" cy="1499520"/>
          </a:xfrm>
          <a:prstGeom prst="rect">
            <a:avLst/>
          </a:prstGeom>
        </p:spPr>
      </p:pic>
      <p:sp>
        <p:nvSpPr>
          <p:cNvPr id="8" name="Text 5"/>
          <p:cNvSpPr txBox="1"/>
          <p:nvPr/>
        </p:nvSpPr>
        <p:spPr>
          <a:xfrm>
            <a:off x="457200" y="2999232"/>
            <a:ext cx="4206240" cy="640080"/>
          </a:xfrm>
          <a:prstGeom prst="rect">
            <a:avLst/>
          </a:prstGeom>
          <a:noFill/>
          <a:ln/>
        </p:spPr>
        <p:txBody>
          <a:bodyPr wrap="square" lIns="0" tIns="0" rIns="0" bIns="0" rtlCol="0" anchor="t"/>
          <a:lstStyle/>
          <a:p>
            <a:pPr indent="0" marL="0">
              <a:buNone/>
            </a:pPr>
            <a:r>
              <a:rPr lang="en-US" sz="1200" b="1" dirty="0">
                <a:solidFill>
                  <a:srgbClr val="F0F3F6"/>
                </a:solidFill>
                <a:latin typeface="Calibri" pitchFamily="34" charset="0"/>
                <a:ea typeface="Calibri" pitchFamily="34" charset="-122"/>
                <a:cs typeface="Calibri" pitchFamily="34" charset="-120"/>
              </a:rPr>
              <a:t>ESP32-CAM node firmware</a:t>
            </a:r>
            <a:endParaRPr lang="en-US" sz="1200" dirty="0"/>
          </a:p>
          <a:p>
            <a:pPr indent="0" marL="0">
              <a:buNone/>
            </a:pPr>
            <a:r>
              <a:rPr lang="en-US" sz="1200" dirty="0">
                <a:solidFill>
                  <a:srgbClr val="9AA4AF"/>
                </a:solidFill>
                <a:latin typeface="Calibri" pitchFamily="34" charset="0"/>
                <a:ea typeface="Calibri" pitchFamily="34" charset="-122"/>
                <a:cs typeface="Calibri" pitchFamily="34" charset="-120"/>
              </a:rPr>
              <a:t>Deep sleep with two wake sources: PIR-triggered capture and send, or a periodic heartbeat.</a:t>
            </a:r>
            <a:endParaRPr lang="en-US" sz="1200" dirty="0"/>
          </a:p>
        </p:txBody>
      </p:sp>
      <p:sp>
        <p:nvSpPr>
          <p:cNvPr id="9" name="Shape 6"/>
          <p:cNvSpPr/>
          <p:nvPr/>
        </p:nvSpPr>
        <p:spPr>
          <a:xfrm>
            <a:off x="457200" y="3703320"/>
            <a:ext cx="4206240" cy="1005840"/>
          </a:xfrm>
          <a:prstGeom prst="roundRect">
            <a:avLst>
              <a:gd name="adj" fmla="val 7273"/>
            </a:avLst>
          </a:prstGeom>
          <a:solidFill>
            <a:srgbClr val="161B22"/>
          </a:solidFill>
          <a:ln w="19050">
            <a:solidFill>
              <a:srgbClr val="3FB950"/>
            </a:solidFill>
            <a:prstDash val="solid"/>
          </a:ln>
        </p:spPr>
      </p:sp>
      <p:sp>
        <p:nvSpPr>
          <p:cNvPr id="10" name="Shape 7"/>
          <p:cNvSpPr/>
          <p:nvPr/>
        </p:nvSpPr>
        <p:spPr>
          <a:xfrm>
            <a:off x="658368" y="3877056"/>
            <a:ext cx="146304" cy="146304"/>
          </a:xfrm>
          <a:prstGeom prst="ellipse">
            <a:avLst/>
          </a:prstGeom>
          <a:solidFill>
            <a:srgbClr val="3FB950"/>
          </a:solidFill>
          <a:ln w="12700">
            <a:solidFill>
              <a:srgbClr val="3FB950"/>
            </a:solidFill>
            <a:prstDash val="solid"/>
          </a:ln>
        </p:spPr>
      </p:sp>
      <p:sp>
        <p:nvSpPr>
          <p:cNvPr id="11" name="Text 8"/>
          <p:cNvSpPr txBox="1"/>
          <p:nvPr/>
        </p:nvSpPr>
        <p:spPr>
          <a:xfrm>
            <a:off x="914400" y="3785616"/>
            <a:ext cx="35661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Validated</a:t>
            </a:r>
            <a:endParaRPr lang="en-US" sz="1400" dirty="0"/>
          </a:p>
        </p:txBody>
      </p:sp>
      <p:sp>
        <p:nvSpPr>
          <p:cNvPr id="12" name="Text 9"/>
          <p:cNvSpPr txBox="1"/>
          <p:nvPr/>
        </p:nvSpPr>
        <p:spPr>
          <a:xfrm>
            <a:off x="914400" y="4114800"/>
            <a:ext cx="3566160" cy="502920"/>
          </a:xfrm>
          <a:prstGeom prst="rect">
            <a:avLst/>
          </a:prstGeom>
          <a:noFill/>
          <a:ln/>
        </p:spPr>
        <p:txBody>
          <a:bodyPr wrap="square" lIns="0" tIns="0" rIns="0" bIns="0" rtlCol="0" anchor="t"/>
          <a:lstStyle/>
          <a:p>
            <a:pPr indent="0" marL="0">
              <a:buNone/>
            </a:pPr>
            <a:r>
              <a:rPr lang="en-US" sz="1200" dirty="0">
                <a:solidFill>
                  <a:srgbClr val="9AA4AF"/>
                </a:solidFill>
                <a:latin typeface="Calibri" pitchFamily="34" charset="0"/>
                <a:ea typeface="Calibri" pitchFamily="34" charset="-122"/>
                <a:cs typeface="Calibri" pitchFamily="34" charset="-120"/>
              </a:rPr>
              <a:t>Full pipeline with simulated node traffic over a real WiFi network.</a:t>
            </a:r>
            <a:endParaRPr lang="en-US" sz="1200" dirty="0"/>
          </a:p>
        </p:txBody>
      </p:sp>
      <p:sp>
        <p:nvSpPr>
          <p:cNvPr id="13" name="Shape 10"/>
          <p:cNvSpPr/>
          <p:nvPr/>
        </p:nvSpPr>
        <p:spPr>
          <a:xfrm>
            <a:off x="4937760" y="1188720"/>
            <a:ext cx="3749040" cy="1051560"/>
          </a:xfrm>
          <a:prstGeom prst="roundRect">
            <a:avLst>
              <a:gd name="adj" fmla="val 6957"/>
            </a:avLst>
          </a:prstGeom>
          <a:solidFill>
            <a:srgbClr val="161B22"/>
          </a:solidFill>
          <a:ln w="12700">
            <a:solidFill>
              <a:srgbClr val="30363D"/>
            </a:solidFill>
            <a:prstDash val="solid"/>
          </a:ln>
        </p:spPr>
      </p:sp>
      <p:sp>
        <p:nvSpPr>
          <p:cNvPr id="14" name="Shape 11"/>
          <p:cNvSpPr/>
          <p:nvPr/>
        </p:nvSpPr>
        <p:spPr>
          <a:xfrm>
            <a:off x="5138928" y="1371600"/>
            <a:ext cx="146304" cy="146304"/>
          </a:xfrm>
          <a:prstGeom prst="ellipse">
            <a:avLst/>
          </a:prstGeom>
          <a:solidFill>
            <a:srgbClr val="FFC93C"/>
          </a:solidFill>
          <a:ln w="12700">
            <a:solidFill>
              <a:srgbClr val="FFC93C"/>
            </a:solidFill>
            <a:prstDash val="solid"/>
          </a:ln>
        </p:spPr>
      </p:sp>
      <p:sp>
        <p:nvSpPr>
          <p:cNvPr id="15" name="Text 12"/>
          <p:cNvSpPr txBox="1"/>
          <p:nvPr/>
        </p:nvSpPr>
        <p:spPr>
          <a:xfrm>
            <a:off x="5394960" y="1280160"/>
            <a:ext cx="31089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Firmware not yet flashed</a:t>
            </a:r>
            <a:endParaRPr lang="en-US" sz="1400" dirty="0"/>
          </a:p>
        </p:txBody>
      </p:sp>
      <p:sp>
        <p:nvSpPr>
          <p:cNvPr id="16" name="Text 13"/>
          <p:cNvSpPr txBox="1"/>
          <p:nvPr/>
        </p:nvSpPr>
        <p:spPr>
          <a:xfrm>
            <a:off x="5394960" y="1600200"/>
            <a:ext cx="3108960" cy="594360"/>
          </a:xfrm>
          <a:prstGeom prst="rect">
            <a:avLst/>
          </a:prstGeom>
          <a:noFill/>
          <a:ln/>
        </p:spPr>
        <p:txBody>
          <a:bodyPr wrap="square" lIns="0" tIns="0" rIns="0" bIns="0" rtlCol="0" anchor="t"/>
          <a:lstStyle/>
          <a:p>
            <a:pPr indent="0" marL="0">
              <a:buNone/>
            </a:pPr>
            <a:r>
              <a:rPr lang="en-US" sz="1150" dirty="0">
                <a:solidFill>
                  <a:srgbClr val="9AA4AF"/>
                </a:solidFill>
                <a:latin typeface="Calibri" pitchFamily="34" charset="0"/>
                <a:ea typeface="Calibri" pitchFamily="34" charset="-122"/>
                <a:cs typeface="Calibri" pitchFamily="34" charset="-120"/>
              </a:rPr>
              <a:t>Desk-reviewed only. USB shield delayed; Arduino Mega 2560 as USB-serial bridge is the next task.</a:t>
            </a:r>
            <a:endParaRPr lang="en-US" sz="1150" dirty="0"/>
          </a:p>
        </p:txBody>
      </p:sp>
      <p:sp>
        <p:nvSpPr>
          <p:cNvPr id="17" name="Shape 14"/>
          <p:cNvSpPr/>
          <p:nvPr/>
        </p:nvSpPr>
        <p:spPr>
          <a:xfrm>
            <a:off x="4937760" y="2377440"/>
            <a:ext cx="3749040" cy="1051560"/>
          </a:xfrm>
          <a:prstGeom prst="roundRect">
            <a:avLst>
              <a:gd name="adj" fmla="val 6957"/>
            </a:avLst>
          </a:prstGeom>
          <a:solidFill>
            <a:srgbClr val="161B22"/>
          </a:solidFill>
          <a:ln w="12700">
            <a:solidFill>
              <a:srgbClr val="30363D"/>
            </a:solidFill>
            <a:prstDash val="solid"/>
          </a:ln>
        </p:spPr>
      </p:sp>
      <p:sp>
        <p:nvSpPr>
          <p:cNvPr id="18" name="Shape 15"/>
          <p:cNvSpPr/>
          <p:nvPr/>
        </p:nvSpPr>
        <p:spPr>
          <a:xfrm>
            <a:off x="5138928" y="2560320"/>
            <a:ext cx="146304" cy="146304"/>
          </a:xfrm>
          <a:prstGeom prst="ellipse">
            <a:avLst/>
          </a:prstGeom>
          <a:solidFill>
            <a:srgbClr val="F85149"/>
          </a:solidFill>
          <a:ln w="12700">
            <a:solidFill>
              <a:srgbClr val="F85149"/>
            </a:solidFill>
            <a:prstDash val="solid"/>
          </a:ln>
        </p:spPr>
      </p:sp>
      <p:sp>
        <p:nvSpPr>
          <p:cNvPr id="19" name="Text 16"/>
          <p:cNvSpPr txBox="1"/>
          <p:nvPr/>
        </p:nvSpPr>
        <p:spPr>
          <a:xfrm>
            <a:off x="5394960" y="2468880"/>
            <a:ext cx="31089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Geophone not procured</a:t>
            </a:r>
            <a:endParaRPr lang="en-US" sz="1400" dirty="0"/>
          </a:p>
        </p:txBody>
      </p:sp>
      <p:sp>
        <p:nvSpPr>
          <p:cNvPr id="20" name="Text 17"/>
          <p:cNvSpPr txBox="1"/>
          <p:nvPr/>
        </p:nvSpPr>
        <p:spPr>
          <a:xfrm>
            <a:off x="5394960" y="2788920"/>
            <a:ext cx="3108960" cy="594360"/>
          </a:xfrm>
          <a:prstGeom prst="rect">
            <a:avLst/>
          </a:prstGeom>
          <a:noFill/>
          <a:ln/>
        </p:spPr>
        <p:txBody>
          <a:bodyPr wrap="square" lIns="0" tIns="0" rIns="0" bIns="0" rtlCol="0" anchor="t"/>
          <a:lstStyle/>
          <a:p>
            <a:pPr indent="0" marL="0">
              <a:buNone/>
            </a:pPr>
            <a:r>
              <a:rPr lang="en-US" sz="1150" dirty="0">
                <a:solidFill>
                  <a:srgbClr val="9AA4AF"/>
                </a:solidFill>
                <a:latin typeface="Calibri" pitchFamily="34" charset="0"/>
                <a:ea typeface="Calibri" pitchFamily="34" charset="-122"/>
                <a:cs typeface="Calibri" pitchFamily="34" charset="-120"/>
              </a:rPr>
              <a:t>Absent from the hardware procured so far; its inclusion is still to be resolved.</a:t>
            </a:r>
            <a:endParaRPr lang="en-US" sz="1150" dirty="0"/>
          </a:p>
        </p:txBody>
      </p:sp>
      <p:sp>
        <p:nvSpPr>
          <p:cNvPr id="21" name="Shape 18"/>
          <p:cNvSpPr/>
          <p:nvPr/>
        </p:nvSpPr>
        <p:spPr>
          <a:xfrm>
            <a:off x="4937760" y="3566160"/>
            <a:ext cx="3749040" cy="1051560"/>
          </a:xfrm>
          <a:prstGeom prst="roundRect">
            <a:avLst>
              <a:gd name="adj" fmla="val 6957"/>
            </a:avLst>
          </a:prstGeom>
          <a:solidFill>
            <a:srgbClr val="161B22"/>
          </a:solidFill>
          <a:ln w="12700">
            <a:solidFill>
              <a:srgbClr val="30363D"/>
            </a:solidFill>
            <a:prstDash val="solid"/>
          </a:ln>
        </p:spPr>
      </p:sp>
      <p:sp>
        <p:nvSpPr>
          <p:cNvPr id="22" name="Shape 19"/>
          <p:cNvSpPr/>
          <p:nvPr/>
        </p:nvSpPr>
        <p:spPr>
          <a:xfrm>
            <a:off x="5138928" y="3749040"/>
            <a:ext cx="146304" cy="146304"/>
          </a:xfrm>
          <a:prstGeom prst="ellipse">
            <a:avLst/>
          </a:prstGeom>
          <a:solidFill>
            <a:srgbClr val="FFC93C"/>
          </a:solidFill>
          <a:ln w="12700">
            <a:solidFill>
              <a:srgbClr val="FFC93C"/>
            </a:solidFill>
            <a:prstDash val="solid"/>
          </a:ln>
        </p:spPr>
      </p:sp>
      <p:sp>
        <p:nvSpPr>
          <p:cNvPr id="23" name="Text 20"/>
          <p:cNvSpPr txBox="1"/>
          <p:nvPr/>
        </p:nvSpPr>
        <p:spPr>
          <a:xfrm>
            <a:off x="5394960" y="3657600"/>
            <a:ext cx="3108960" cy="274320"/>
          </a:xfrm>
          <a:prstGeom prst="rect">
            <a:avLst/>
          </a:prstGeom>
          <a:noFill/>
          <a:ln/>
        </p:spPr>
        <p:txBody>
          <a:bodyPr wrap="square" lIns="0" tIns="0" rIns="0" bIns="0" rtlCol="0" anchor="t"/>
          <a:lstStyle/>
          <a:p>
            <a:pPr indent="0" marL="0">
              <a:buNone/>
            </a:pPr>
            <a:r>
              <a:rPr lang="en-US" sz="1400" b="1" dirty="0">
                <a:solidFill>
                  <a:srgbClr val="F0F3F6"/>
                </a:solidFill>
                <a:latin typeface="Calibri" pitchFamily="34" charset="0"/>
                <a:ea typeface="Calibri" pitchFamily="34" charset="-122"/>
                <a:cs typeface="Calibri" pitchFamily="34" charset="-120"/>
              </a:rPr>
              <a:t>Prototype security</a:t>
            </a:r>
            <a:endParaRPr lang="en-US" sz="1400" dirty="0"/>
          </a:p>
        </p:txBody>
      </p:sp>
      <p:sp>
        <p:nvSpPr>
          <p:cNvPr id="24" name="Text 21"/>
          <p:cNvSpPr txBox="1"/>
          <p:nvPr/>
        </p:nvSpPr>
        <p:spPr>
          <a:xfrm>
            <a:off x="5394960" y="3977640"/>
            <a:ext cx="3108960" cy="594360"/>
          </a:xfrm>
          <a:prstGeom prst="rect">
            <a:avLst/>
          </a:prstGeom>
          <a:noFill/>
          <a:ln/>
        </p:spPr>
        <p:txBody>
          <a:bodyPr wrap="square" lIns="0" tIns="0" rIns="0" bIns="0" rtlCol="0" anchor="t"/>
          <a:lstStyle/>
          <a:p>
            <a:pPr indent="0" marL="0">
              <a:buNone/>
            </a:pPr>
            <a:r>
              <a:rPr lang="en-US" sz="1150" dirty="0">
                <a:solidFill>
                  <a:srgbClr val="9AA4AF"/>
                </a:solidFill>
                <a:latin typeface="Calibri" pitchFamily="34" charset="0"/>
                <a:ea typeface="Calibri" pitchFamily="34" charset="-122"/>
                <a:cs typeface="Calibri" pitchFamily="34" charset="-120"/>
              </a:rPr>
              <a:t>CORS is open (allow_origins = *) for campus testing. Restriction and authentication are planned.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txBox="1"/>
          <p:nvPr/>
        </p:nvSpPr>
        <p:spPr>
          <a:xfrm>
            <a:off x="457200" y="274320"/>
            <a:ext cx="7223760" cy="640080"/>
          </a:xfrm>
          <a:prstGeom prst="rect">
            <a:avLst/>
          </a:prstGeom>
          <a:noFill/>
          <a:ln/>
        </p:spPr>
        <p:txBody>
          <a:bodyPr wrap="square" lIns="0" tIns="0" rIns="0" bIns="0" rtlCol="0" anchor="ctr"/>
          <a:lstStyle/>
          <a:p>
            <a:pPr indent="0" marL="0">
              <a:buNone/>
            </a:pPr>
            <a:r>
              <a:rPr lang="en-US" sz="3000" b="1" dirty="0">
                <a:solidFill>
                  <a:srgbClr val="F0F3F6"/>
                </a:solidFill>
                <a:latin typeface="Calibri" pitchFamily="34" charset="0"/>
                <a:ea typeface="Calibri" pitchFamily="34" charset="-122"/>
                <a:cs typeface="Calibri" pitchFamily="34" charset="-120"/>
              </a:rPr>
              <a:t>Plan for the rest of the semester</a:t>
            </a:r>
            <a:endParaRPr lang="en-US" sz="3000" dirty="0"/>
          </a:p>
        </p:txBody>
      </p:sp>
      <p:sp>
        <p:nvSpPr>
          <p:cNvPr id="3" name="Shape 1"/>
          <p:cNvSpPr/>
          <p:nvPr/>
        </p:nvSpPr>
        <p:spPr>
          <a:xfrm>
            <a:off x="7818120" y="521208"/>
            <a:ext cx="146304" cy="146304"/>
          </a:xfrm>
          <a:prstGeom prst="ellipse">
            <a:avLst/>
          </a:prstGeom>
          <a:solidFill>
            <a:srgbClr val="F85149"/>
          </a:solidFill>
          <a:ln w="12700">
            <a:solidFill>
              <a:srgbClr val="F85149"/>
            </a:solidFill>
            <a:prstDash val="solid"/>
          </a:ln>
        </p:spPr>
      </p:sp>
      <p:sp>
        <p:nvSpPr>
          <p:cNvPr id="4" name="Shape 2"/>
          <p:cNvSpPr/>
          <p:nvPr/>
        </p:nvSpPr>
        <p:spPr>
          <a:xfrm>
            <a:off x="8046720" y="521208"/>
            <a:ext cx="146304" cy="146304"/>
          </a:xfrm>
          <a:prstGeom prst="ellipse">
            <a:avLst/>
          </a:prstGeom>
          <a:solidFill>
            <a:srgbClr val="FFC93C"/>
          </a:solidFill>
          <a:ln w="12700">
            <a:solidFill>
              <a:srgbClr val="FFC93C"/>
            </a:solidFill>
            <a:prstDash val="solid"/>
          </a:ln>
        </p:spPr>
      </p:sp>
      <p:sp>
        <p:nvSpPr>
          <p:cNvPr id="5" name="Shape 3"/>
          <p:cNvSpPr/>
          <p:nvPr/>
        </p:nvSpPr>
        <p:spPr>
          <a:xfrm>
            <a:off x="8275320" y="521208"/>
            <a:ext cx="146304" cy="146304"/>
          </a:xfrm>
          <a:prstGeom prst="ellipse">
            <a:avLst/>
          </a:prstGeom>
          <a:solidFill>
            <a:srgbClr val="3FB950"/>
          </a:solidFill>
          <a:ln w="12700">
            <a:solidFill>
              <a:srgbClr val="3FB950"/>
            </a:solidFill>
            <a:prstDash val="solid"/>
          </a:ln>
        </p:spPr>
      </p:sp>
      <p:sp>
        <p:nvSpPr>
          <p:cNvPr id="6" name="Shape 4"/>
          <p:cNvSpPr/>
          <p:nvPr/>
        </p:nvSpPr>
        <p:spPr>
          <a:xfrm>
            <a:off x="457200" y="1280160"/>
            <a:ext cx="1536192" cy="2240280"/>
          </a:xfrm>
          <a:prstGeom prst="roundRect">
            <a:avLst>
              <a:gd name="adj" fmla="val 4762"/>
            </a:avLst>
          </a:prstGeom>
          <a:solidFill>
            <a:srgbClr val="161B22"/>
          </a:solidFill>
          <a:ln w="12700">
            <a:solidFill>
              <a:srgbClr val="30363D"/>
            </a:solidFill>
            <a:prstDash val="solid"/>
          </a:ln>
        </p:spPr>
      </p:sp>
      <p:sp>
        <p:nvSpPr>
          <p:cNvPr id="7" name="Shape 5"/>
          <p:cNvSpPr/>
          <p:nvPr/>
        </p:nvSpPr>
        <p:spPr>
          <a:xfrm>
            <a:off x="621792" y="1463040"/>
            <a:ext cx="384048" cy="384048"/>
          </a:xfrm>
          <a:prstGeom prst="ellipse">
            <a:avLst/>
          </a:prstGeom>
          <a:solidFill>
            <a:srgbClr val="FFC93C"/>
          </a:solidFill>
          <a:ln w="12700">
            <a:solidFill>
              <a:srgbClr val="FFC93C"/>
            </a:solidFill>
            <a:prstDash val="solid"/>
          </a:ln>
        </p:spPr>
      </p:sp>
      <p:sp>
        <p:nvSpPr>
          <p:cNvPr id="8" name="Text 6"/>
          <p:cNvSpPr txBox="1"/>
          <p:nvPr/>
        </p:nvSpPr>
        <p:spPr>
          <a:xfrm>
            <a:off x="621792" y="1463040"/>
            <a:ext cx="384048" cy="384048"/>
          </a:xfrm>
          <a:prstGeom prst="rect">
            <a:avLst/>
          </a:prstGeom>
          <a:noFill/>
          <a:ln/>
        </p:spPr>
        <p:txBody>
          <a:bodyPr wrap="square" lIns="0" tIns="0" rIns="0" bIns="0" rtlCol="0" anchor="ctr"/>
          <a:lstStyle/>
          <a:p>
            <a:pPr algn="ctr" indent="0" marL="0">
              <a:buNone/>
            </a:pPr>
            <a:r>
              <a:rPr lang="en-US" sz="1500" b="1" dirty="0">
                <a:solidFill>
                  <a:srgbClr val="0D1117"/>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621792" y="1965960"/>
            <a:ext cx="1234440" cy="457200"/>
          </a:xfrm>
          <a:prstGeom prst="rect">
            <a:avLst/>
          </a:prstGeom>
          <a:noFill/>
          <a:ln/>
        </p:spPr>
        <p:txBody>
          <a:bodyPr wrap="square" lIns="0" tIns="0" rIns="0" bIns="0" rtlCol="0" anchor="t"/>
          <a:lstStyle/>
          <a:p>
            <a:pPr indent="0" marL="0">
              <a:buNone/>
            </a:pPr>
            <a:r>
              <a:rPr lang="en-US" sz="1300" b="1" dirty="0">
                <a:solidFill>
                  <a:srgbClr val="F0F3F6"/>
                </a:solidFill>
                <a:latin typeface="Calibri" pitchFamily="34" charset="0"/>
                <a:ea typeface="Calibri" pitchFamily="34" charset="-122"/>
                <a:cs typeface="Calibri" pitchFamily="34" charset="-120"/>
              </a:rPr>
              <a:t>Flash and wire</a:t>
            </a:r>
            <a:endParaRPr lang="en-US" sz="1300" dirty="0"/>
          </a:p>
        </p:txBody>
      </p:sp>
      <p:sp>
        <p:nvSpPr>
          <p:cNvPr id="10" name="Text 8"/>
          <p:cNvSpPr txBox="1"/>
          <p:nvPr/>
        </p:nvSpPr>
        <p:spPr>
          <a:xfrm>
            <a:off x="621792" y="2468880"/>
            <a:ext cx="1243584" cy="100584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Flash ESP32-CAM via the Mega bridge, integrate PIR, set up the WiFi link to the server.</a:t>
            </a:r>
            <a:endParaRPr lang="en-US" sz="1100" dirty="0"/>
          </a:p>
        </p:txBody>
      </p:sp>
      <p:sp>
        <p:nvSpPr>
          <p:cNvPr id="11" name="Shape 9"/>
          <p:cNvSpPr/>
          <p:nvPr/>
        </p:nvSpPr>
        <p:spPr>
          <a:xfrm>
            <a:off x="2130552" y="1280160"/>
            <a:ext cx="1536192" cy="2240280"/>
          </a:xfrm>
          <a:prstGeom prst="roundRect">
            <a:avLst>
              <a:gd name="adj" fmla="val 4762"/>
            </a:avLst>
          </a:prstGeom>
          <a:solidFill>
            <a:srgbClr val="161B22"/>
          </a:solidFill>
          <a:ln w="12700">
            <a:solidFill>
              <a:srgbClr val="30363D"/>
            </a:solidFill>
            <a:prstDash val="solid"/>
          </a:ln>
        </p:spPr>
      </p:sp>
      <p:sp>
        <p:nvSpPr>
          <p:cNvPr id="12" name="Shape 10"/>
          <p:cNvSpPr/>
          <p:nvPr/>
        </p:nvSpPr>
        <p:spPr>
          <a:xfrm>
            <a:off x="2295144" y="1463040"/>
            <a:ext cx="384048" cy="384048"/>
          </a:xfrm>
          <a:prstGeom prst="ellipse">
            <a:avLst/>
          </a:prstGeom>
          <a:solidFill>
            <a:srgbClr val="FFC93C"/>
          </a:solidFill>
          <a:ln w="12700">
            <a:solidFill>
              <a:srgbClr val="FFC93C"/>
            </a:solidFill>
            <a:prstDash val="solid"/>
          </a:ln>
        </p:spPr>
      </p:sp>
      <p:sp>
        <p:nvSpPr>
          <p:cNvPr id="13" name="Text 11"/>
          <p:cNvSpPr txBox="1"/>
          <p:nvPr/>
        </p:nvSpPr>
        <p:spPr>
          <a:xfrm>
            <a:off x="2295144" y="1463040"/>
            <a:ext cx="384048" cy="384048"/>
          </a:xfrm>
          <a:prstGeom prst="rect">
            <a:avLst/>
          </a:prstGeom>
          <a:noFill/>
          <a:ln/>
        </p:spPr>
        <p:txBody>
          <a:bodyPr wrap="square" lIns="0" tIns="0" rIns="0" bIns="0" rtlCol="0" anchor="ctr"/>
          <a:lstStyle/>
          <a:p>
            <a:pPr algn="ctr" indent="0" marL="0">
              <a:buNone/>
            </a:pPr>
            <a:r>
              <a:rPr lang="en-US" sz="1500" b="1" dirty="0">
                <a:solidFill>
                  <a:srgbClr val="0D1117"/>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2295144" y="1965960"/>
            <a:ext cx="1234440" cy="457200"/>
          </a:xfrm>
          <a:prstGeom prst="rect">
            <a:avLst/>
          </a:prstGeom>
          <a:noFill/>
          <a:ln/>
        </p:spPr>
        <p:txBody>
          <a:bodyPr wrap="square" lIns="0" tIns="0" rIns="0" bIns="0" rtlCol="0" anchor="t"/>
          <a:lstStyle/>
          <a:p>
            <a:pPr indent="0" marL="0">
              <a:buNone/>
            </a:pPr>
            <a:r>
              <a:rPr lang="en-US" sz="1300" b="1" dirty="0">
                <a:solidFill>
                  <a:srgbClr val="F0F3F6"/>
                </a:solidFill>
                <a:latin typeface="Calibri" pitchFamily="34" charset="0"/>
                <a:ea typeface="Calibri" pitchFamily="34" charset="-122"/>
                <a:cs typeface="Calibri" pitchFamily="34" charset="-120"/>
              </a:rPr>
              <a:t>Single-node end to end</a:t>
            </a:r>
            <a:endParaRPr lang="en-US" sz="1300" dirty="0"/>
          </a:p>
        </p:txBody>
      </p:sp>
      <p:sp>
        <p:nvSpPr>
          <p:cNvPr id="15" name="Text 13"/>
          <p:cNvSpPr txBox="1"/>
          <p:nvPr/>
        </p:nvSpPr>
        <p:spPr>
          <a:xfrm>
            <a:off x="2295144" y="2468880"/>
            <a:ext cx="1243584" cy="100584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PIR, capture, transmit, inference, scoring, dashboard alert.</a:t>
            </a:r>
            <a:endParaRPr lang="en-US" sz="1100" dirty="0"/>
          </a:p>
        </p:txBody>
      </p:sp>
      <p:sp>
        <p:nvSpPr>
          <p:cNvPr id="16" name="Shape 14"/>
          <p:cNvSpPr/>
          <p:nvPr/>
        </p:nvSpPr>
        <p:spPr>
          <a:xfrm>
            <a:off x="3803904" y="1280160"/>
            <a:ext cx="1536192" cy="2240280"/>
          </a:xfrm>
          <a:prstGeom prst="roundRect">
            <a:avLst>
              <a:gd name="adj" fmla="val 4762"/>
            </a:avLst>
          </a:prstGeom>
          <a:solidFill>
            <a:srgbClr val="161B22"/>
          </a:solidFill>
          <a:ln w="12700">
            <a:solidFill>
              <a:srgbClr val="30363D"/>
            </a:solidFill>
            <a:prstDash val="solid"/>
          </a:ln>
        </p:spPr>
      </p:sp>
      <p:sp>
        <p:nvSpPr>
          <p:cNvPr id="17" name="Shape 15"/>
          <p:cNvSpPr/>
          <p:nvPr/>
        </p:nvSpPr>
        <p:spPr>
          <a:xfrm>
            <a:off x="3968496" y="1463040"/>
            <a:ext cx="384048" cy="384048"/>
          </a:xfrm>
          <a:prstGeom prst="ellipse">
            <a:avLst/>
          </a:prstGeom>
          <a:solidFill>
            <a:srgbClr val="FFC93C"/>
          </a:solidFill>
          <a:ln w="12700">
            <a:solidFill>
              <a:srgbClr val="FFC93C"/>
            </a:solidFill>
            <a:prstDash val="solid"/>
          </a:ln>
        </p:spPr>
      </p:sp>
      <p:sp>
        <p:nvSpPr>
          <p:cNvPr id="18" name="Text 16"/>
          <p:cNvSpPr txBox="1"/>
          <p:nvPr/>
        </p:nvSpPr>
        <p:spPr>
          <a:xfrm>
            <a:off x="3968496" y="1463040"/>
            <a:ext cx="384048" cy="384048"/>
          </a:xfrm>
          <a:prstGeom prst="rect">
            <a:avLst/>
          </a:prstGeom>
          <a:noFill/>
          <a:ln/>
        </p:spPr>
        <p:txBody>
          <a:bodyPr wrap="square" lIns="0" tIns="0" rIns="0" bIns="0" rtlCol="0" anchor="ctr"/>
          <a:lstStyle/>
          <a:p>
            <a:pPr algn="ctr" indent="0" marL="0">
              <a:buNone/>
            </a:pPr>
            <a:r>
              <a:rPr lang="en-US" sz="1500" b="1" dirty="0">
                <a:solidFill>
                  <a:srgbClr val="0D1117"/>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3968496" y="1965960"/>
            <a:ext cx="1234440" cy="457200"/>
          </a:xfrm>
          <a:prstGeom prst="rect">
            <a:avLst/>
          </a:prstGeom>
          <a:noFill/>
          <a:ln/>
        </p:spPr>
        <p:txBody>
          <a:bodyPr wrap="square" lIns="0" tIns="0" rIns="0" bIns="0" rtlCol="0" anchor="t"/>
          <a:lstStyle/>
          <a:p>
            <a:pPr indent="0" marL="0">
              <a:buNone/>
            </a:pPr>
            <a:r>
              <a:rPr lang="en-US" sz="1300" b="1" dirty="0">
                <a:solidFill>
                  <a:srgbClr val="F0F3F6"/>
                </a:solidFill>
                <a:latin typeface="Calibri" pitchFamily="34" charset="0"/>
                <a:ea typeface="Calibri" pitchFamily="34" charset="-122"/>
                <a:cs typeface="Calibri" pitchFamily="34" charset="-120"/>
              </a:rPr>
              <a:t>Geophone</a:t>
            </a:r>
            <a:endParaRPr lang="en-US" sz="1300" dirty="0"/>
          </a:p>
        </p:txBody>
      </p:sp>
      <p:sp>
        <p:nvSpPr>
          <p:cNvPr id="20" name="Text 18"/>
          <p:cNvSpPr txBox="1"/>
          <p:nvPr/>
        </p:nvSpPr>
        <p:spPr>
          <a:xfrm>
            <a:off x="3968496" y="2468880"/>
            <a:ext cx="1243584" cy="100584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Wire and validate if available; feed it into multi-sensor scoring.</a:t>
            </a:r>
            <a:endParaRPr lang="en-US" sz="1100" dirty="0"/>
          </a:p>
        </p:txBody>
      </p:sp>
      <p:sp>
        <p:nvSpPr>
          <p:cNvPr id="21" name="Shape 19"/>
          <p:cNvSpPr/>
          <p:nvPr/>
        </p:nvSpPr>
        <p:spPr>
          <a:xfrm>
            <a:off x="5477256" y="1280160"/>
            <a:ext cx="1536192" cy="2240280"/>
          </a:xfrm>
          <a:prstGeom prst="roundRect">
            <a:avLst>
              <a:gd name="adj" fmla="val 4762"/>
            </a:avLst>
          </a:prstGeom>
          <a:solidFill>
            <a:srgbClr val="161B22"/>
          </a:solidFill>
          <a:ln w="12700">
            <a:solidFill>
              <a:srgbClr val="30363D"/>
            </a:solidFill>
            <a:prstDash val="solid"/>
          </a:ln>
        </p:spPr>
      </p:sp>
      <p:sp>
        <p:nvSpPr>
          <p:cNvPr id="22" name="Shape 20"/>
          <p:cNvSpPr/>
          <p:nvPr/>
        </p:nvSpPr>
        <p:spPr>
          <a:xfrm>
            <a:off x="5641848" y="1463040"/>
            <a:ext cx="384048" cy="384048"/>
          </a:xfrm>
          <a:prstGeom prst="ellipse">
            <a:avLst/>
          </a:prstGeom>
          <a:solidFill>
            <a:srgbClr val="FFC93C"/>
          </a:solidFill>
          <a:ln w="12700">
            <a:solidFill>
              <a:srgbClr val="FFC93C"/>
            </a:solidFill>
            <a:prstDash val="solid"/>
          </a:ln>
        </p:spPr>
      </p:sp>
      <p:sp>
        <p:nvSpPr>
          <p:cNvPr id="23" name="Text 21"/>
          <p:cNvSpPr txBox="1"/>
          <p:nvPr/>
        </p:nvSpPr>
        <p:spPr>
          <a:xfrm>
            <a:off x="5641848" y="1463040"/>
            <a:ext cx="384048" cy="384048"/>
          </a:xfrm>
          <a:prstGeom prst="rect">
            <a:avLst/>
          </a:prstGeom>
          <a:noFill/>
          <a:ln/>
        </p:spPr>
        <p:txBody>
          <a:bodyPr wrap="square" lIns="0" tIns="0" rIns="0" bIns="0" rtlCol="0" anchor="ctr"/>
          <a:lstStyle/>
          <a:p>
            <a:pPr algn="ctr" indent="0" marL="0">
              <a:buNone/>
            </a:pPr>
            <a:r>
              <a:rPr lang="en-US" sz="1500" b="1" dirty="0">
                <a:solidFill>
                  <a:srgbClr val="0D1117"/>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5641848" y="1965960"/>
            <a:ext cx="1234440" cy="457200"/>
          </a:xfrm>
          <a:prstGeom prst="rect">
            <a:avLst/>
          </a:prstGeom>
          <a:noFill/>
          <a:ln/>
        </p:spPr>
        <p:txBody>
          <a:bodyPr wrap="square" lIns="0" tIns="0" rIns="0" bIns="0" rtlCol="0" anchor="t"/>
          <a:lstStyle/>
          <a:p>
            <a:pPr indent="0" marL="0">
              <a:buNone/>
            </a:pPr>
            <a:r>
              <a:rPr lang="en-US" sz="1300" b="1" dirty="0">
                <a:solidFill>
                  <a:srgbClr val="F0F3F6"/>
                </a:solidFill>
                <a:latin typeface="Calibri" pitchFamily="34" charset="0"/>
                <a:ea typeface="Calibri" pitchFamily="34" charset="-122"/>
                <a:cs typeface="Calibri" pitchFamily="34" charset="-120"/>
              </a:rPr>
              <a:t>Campus demo</a:t>
            </a:r>
            <a:endParaRPr lang="en-US" sz="1300" dirty="0"/>
          </a:p>
        </p:txBody>
      </p:sp>
      <p:sp>
        <p:nvSpPr>
          <p:cNvPr id="25" name="Text 23"/>
          <p:cNvSpPr txBox="1"/>
          <p:nvPr/>
        </p:nvSpPr>
        <p:spPr>
          <a:xfrm>
            <a:off x="5641848" y="2468880"/>
            <a:ext cx="1243584" cy="100584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Physical nodes, server and both dashboards under realistic conditions.</a:t>
            </a:r>
            <a:endParaRPr lang="en-US" sz="1100" dirty="0"/>
          </a:p>
        </p:txBody>
      </p:sp>
      <p:sp>
        <p:nvSpPr>
          <p:cNvPr id="26" name="Shape 24"/>
          <p:cNvSpPr/>
          <p:nvPr/>
        </p:nvSpPr>
        <p:spPr>
          <a:xfrm>
            <a:off x="7150608" y="1280160"/>
            <a:ext cx="1536192" cy="2240280"/>
          </a:xfrm>
          <a:prstGeom prst="roundRect">
            <a:avLst>
              <a:gd name="adj" fmla="val 4762"/>
            </a:avLst>
          </a:prstGeom>
          <a:solidFill>
            <a:srgbClr val="161B22"/>
          </a:solidFill>
          <a:ln w="12700">
            <a:solidFill>
              <a:srgbClr val="30363D"/>
            </a:solidFill>
            <a:prstDash val="solid"/>
          </a:ln>
        </p:spPr>
      </p:sp>
      <p:sp>
        <p:nvSpPr>
          <p:cNvPr id="27" name="Shape 25"/>
          <p:cNvSpPr/>
          <p:nvPr/>
        </p:nvSpPr>
        <p:spPr>
          <a:xfrm>
            <a:off x="7315200" y="1463040"/>
            <a:ext cx="384048" cy="384048"/>
          </a:xfrm>
          <a:prstGeom prst="ellipse">
            <a:avLst/>
          </a:prstGeom>
          <a:solidFill>
            <a:srgbClr val="FFC93C"/>
          </a:solidFill>
          <a:ln w="12700">
            <a:solidFill>
              <a:srgbClr val="FFC93C"/>
            </a:solidFill>
            <a:prstDash val="solid"/>
          </a:ln>
        </p:spPr>
      </p:sp>
      <p:sp>
        <p:nvSpPr>
          <p:cNvPr id="28" name="Text 26"/>
          <p:cNvSpPr txBox="1"/>
          <p:nvPr/>
        </p:nvSpPr>
        <p:spPr>
          <a:xfrm>
            <a:off x="7315200" y="1463040"/>
            <a:ext cx="384048" cy="384048"/>
          </a:xfrm>
          <a:prstGeom prst="rect">
            <a:avLst/>
          </a:prstGeom>
          <a:noFill/>
          <a:ln/>
        </p:spPr>
        <p:txBody>
          <a:bodyPr wrap="square" lIns="0" tIns="0" rIns="0" bIns="0" rtlCol="0" anchor="ctr"/>
          <a:lstStyle/>
          <a:p>
            <a:pPr algn="ctr" indent="0" marL="0">
              <a:buNone/>
            </a:pPr>
            <a:r>
              <a:rPr lang="en-US" sz="1500" b="1" dirty="0">
                <a:solidFill>
                  <a:srgbClr val="0D1117"/>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7315200" y="1965960"/>
            <a:ext cx="1234440" cy="457200"/>
          </a:xfrm>
          <a:prstGeom prst="rect">
            <a:avLst/>
          </a:prstGeom>
          <a:noFill/>
          <a:ln/>
        </p:spPr>
        <p:txBody>
          <a:bodyPr wrap="square" lIns="0" tIns="0" rIns="0" bIns="0" rtlCol="0" anchor="t"/>
          <a:lstStyle/>
          <a:p>
            <a:pPr indent="0" marL="0">
              <a:buNone/>
            </a:pPr>
            <a:r>
              <a:rPr lang="en-US" sz="1300" b="1" dirty="0">
                <a:solidFill>
                  <a:srgbClr val="F0F3F6"/>
                </a:solidFill>
                <a:latin typeface="Calibri" pitchFamily="34" charset="0"/>
                <a:ea typeface="Calibri" pitchFamily="34" charset="-122"/>
                <a:cs typeface="Calibri" pitchFamily="34" charset="-120"/>
              </a:rPr>
              <a:t>Harden</a:t>
            </a:r>
            <a:endParaRPr lang="en-US" sz="1300" dirty="0"/>
          </a:p>
        </p:txBody>
      </p:sp>
      <p:sp>
        <p:nvSpPr>
          <p:cNvPr id="30" name="Text 28"/>
          <p:cNvSpPr txBox="1"/>
          <p:nvPr/>
        </p:nvSpPr>
        <p:spPr>
          <a:xfrm>
            <a:off x="7315200" y="2468880"/>
            <a:ext cx="1243584" cy="1005840"/>
          </a:xfrm>
          <a:prstGeom prst="rect">
            <a:avLst/>
          </a:prstGeom>
          <a:noFill/>
          <a:ln/>
        </p:spPr>
        <p:txBody>
          <a:bodyPr wrap="square" lIns="0" tIns="0" rIns="0" bIns="0" rtlCol="0" anchor="t"/>
          <a:lstStyle/>
          <a:p>
            <a:pPr indent="0" marL="0">
              <a:buNone/>
            </a:pPr>
            <a:r>
              <a:rPr lang="en-US" sz="1100" dirty="0">
                <a:solidFill>
                  <a:srgbClr val="9AA4AF"/>
                </a:solidFill>
                <a:latin typeface="Calibri" pitchFamily="34" charset="0"/>
                <a:ea typeface="Calibri" pitchFamily="34" charset="-122"/>
                <a:cs typeface="Calibri" pitchFamily="34" charset="-120"/>
              </a:rPr>
              <a:t>Restricted CORS origins, authentication, secure communication.</a:t>
            </a:r>
            <a:endParaRPr lang="en-US" sz="1100" dirty="0"/>
          </a:p>
        </p:txBody>
      </p:sp>
      <p:sp>
        <p:nvSpPr>
          <p:cNvPr id="31" name="Shape 29"/>
          <p:cNvSpPr/>
          <p:nvPr/>
        </p:nvSpPr>
        <p:spPr>
          <a:xfrm>
            <a:off x="457200" y="3794760"/>
            <a:ext cx="8229600" cy="914400"/>
          </a:xfrm>
          <a:prstGeom prst="roundRect">
            <a:avLst>
              <a:gd name="adj" fmla="val 8000"/>
            </a:avLst>
          </a:prstGeom>
          <a:solidFill>
            <a:srgbClr val="21262D"/>
          </a:solidFill>
          <a:ln w="12700">
            <a:solidFill>
              <a:srgbClr val="30363D"/>
            </a:solidFill>
            <a:prstDash val="solid"/>
          </a:ln>
        </p:spPr>
      </p:sp>
      <p:sp>
        <p:nvSpPr>
          <p:cNvPr id="32" name="Text 30"/>
          <p:cNvSpPr txBox="1"/>
          <p:nvPr/>
        </p:nvSpPr>
        <p:spPr>
          <a:xfrm>
            <a:off x="731520" y="3794760"/>
            <a:ext cx="5852160" cy="914400"/>
          </a:xfrm>
          <a:prstGeom prst="rect">
            <a:avLst/>
          </a:prstGeom>
          <a:noFill/>
          <a:ln/>
        </p:spPr>
        <p:txBody>
          <a:bodyPr wrap="square" lIns="0" tIns="0" rIns="0" bIns="0" rtlCol="0" anchor="ctr"/>
          <a:lstStyle/>
          <a:p>
            <a:pPr indent="0" marL="0">
              <a:buNone/>
            </a:pPr>
            <a:r>
              <a:rPr lang="en-US" sz="1500" b="1" dirty="0">
                <a:solidFill>
                  <a:srgbClr val="FFC93C"/>
                </a:solidFill>
                <a:latin typeface="Calibri" pitchFamily="34" charset="0"/>
                <a:ea typeface="Calibri" pitchFamily="34" charset="-122"/>
                <a:cs typeface="Calibri" pitchFamily="34" charset="-120"/>
              </a:rPr>
              <a:t>Software layer: </a:t>
            </a:r>
            <a:pPr indent="0" marL="0">
              <a:buNone/>
            </a:pPr>
            <a:r>
              <a:rPr lang="en-US" sz="1500" dirty="0">
                <a:solidFill>
                  <a:srgbClr val="F0F3F6"/>
                </a:solidFill>
                <a:latin typeface="Calibri" pitchFamily="34" charset="0"/>
                <a:ea typeface="Calibri" pitchFamily="34" charset="-122"/>
                <a:cs typeface="Calibri" pitchFamily="34" charset="-120"/>
              </a:rPr>
              <a:t>complete and validated over real WiFi. Next: the campus-ready hardware prototype.</a:t>
            </a:r>
            <a:endParaRPr lang="en-US" sz="1500" dirty="0"/>
          </a:p>
        </p:txBody>
      </p:sp>
      <p:sp>
        <p:nvSpPr>
          <p:cNvPr id="33" name="Text 31"/>
          <p:cNvSpPr txBox="1"/>
          <p:nvPr/>
        </p:nvSpPr>
        <p:spPr>
          <a:xfrm>
            <a:off x="6675120" y="3794760"/>
            <a:ext cx="1737360" cy="914400"/>
          </a:xfrm>
          <a:prstGeom prst="rect">
            <a:avLst/>
          </a:prstGeom>
          <a:noFill/>
          <a:ln/>
        </p:spPr>
        <p:txBody>
          <a:bodyPr wrap="square" lIns="0" tIns="0" rIns="0" bIns="0" rtlCol="0" anchor="ctr"/>
          <a:lstStyle/>
          <a:p>
            <a:pPr algn="r" indent="0" marL="0">
              <a:buNone/>
            </a:pPr>
            <a:r>
              <a:rPr lang="en-US" sz="2200" b="1" dirty="0">
                <a:solidFill>
                  <a:srgbClr val="FFC93C"/>
                </a:solidFill>
                <a:latin typeface="Calibri" pitchFamily="34" charset="0"/>
                <a:ea typeface="Calibri" pitchFamily="34" charset="-122"/>
                <a:cs typeface="Calibri"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Railway Animal Detection System - Mid-Sem Progress</dc:title>
  <dc:subject>PptxGenJS Presentation</dc:subject>
  <dc:creator>Apoorv Singh</dc:creator>
  <cp:lastModifiedBy>Apoorv Singh</cp:lastModifiedBy>
  <cp:revision>1</cp:revision>
  <dcterms:created xsi:type="dcterms:W3CDTF">2026-09-24T12:47:50Z</dcterms:created>
  <dcterms:modified xsi:type="dcterms:W3CDTF">2026-09-24T12:47:50Z</dcterms:modified>
</cp:coreProperties>
</file>